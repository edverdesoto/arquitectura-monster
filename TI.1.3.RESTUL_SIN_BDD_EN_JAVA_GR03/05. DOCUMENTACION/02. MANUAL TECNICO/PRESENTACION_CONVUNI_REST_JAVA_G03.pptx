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1" r:id="rId6"/>
    <p:sldId id="262" r:id="rId7"/>
    <p:sldId id="264" r:id="rId8"/>
    <p:sldId id="267" r:id="rId9"/>
    <p:sldId id="270" r:id="rId10"/>
    <p:sldId id="272" r:id="rId11"/>
    <p:sldId id="273" r:id="rId12"/>
    <p:sldId id="274" r:id="rId13"/>
    <p:sldId id="275" r:id="rId14"/>
    <p:sldId id="279" r:id="rId15"/>
    <p:sldId id="280" r:id="rId16"/>
    <p:sldId id="281" r:id="rId17"/>
    <p:sldId id="283" r:id="rId18"/>
    <p:sldId id="284" r:id="rId19"/>
    <p:sldId id="288" r:id="rId20"/>
    <p:sldId id="289" r:id="rId21"/>
    <p:sldId id="291" r:id="rId22"/>
    <p:sldId id="292" r:id="rId23"/>
    <p:sldId id="293" r:id="rId24"/>
    <p:sldId id="294" r:id="rId25"/>
    <p:sldId id="295" r:id="rId26"/>
    <p:sldId id="296" r:id="rId27"/>
    <p:sldId id="297" r:id="rId28"/>
    <p:sldId id="301" r:id="rId29"/>
    <p:sldId id="302" r:id="rId30"/>
    <p:sldId id="303" r:id="rId31"/>
  </p:sldIdLst>
  <p:sldSz cx="12192000" cy="6858000"/>
  <p:notesSz cx="6858000" cy="9144000"/>
  <p:embeddedFontLst>
    <p:embeddedFont>
      <p:font typeface="Calibri" panose="020F0502020204030204" pitchFamily="34" charset="0"/>
      <p:regular r:id="rId33"/>
      <p:bold r:id="rId34"/>
      <p:italic r:id="rId35"/>
      <p:boldItalic r:id="rId36"/>
    </p:embeddedFont>
    <p:embeddedFont>
      <p:font typeface="Cambria" panose="02040503050406030204" pitchFamily="18" charset="0"/>
      <p:regular r:id="rId37"/>
      <p:bold r:id="rId38"/>
      <p:italic r:id="rId39"/>
      <p:boldItalic r:id="rId40"/>
    </p:embeddedFont>
    <p:embeddedFont>
      <p:font typeface="Gill Sans" panose="020B0604020202020204" charset="0"/>
      <p:regular r:id="rId41"/>
      <p:bold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hoWsaXMVBtv1HF1G3ccxKxe1iU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3" name="Google Shape;10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d6d00c5bd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9" name="Google Shape;119;g2d6d00c5bd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7" name="Google Shape;13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d624313899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6" name="Google Shape;146;g2d624313899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d624313899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2" name="Google Shape;162;g2d624313899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d624313899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6" name="Google Shape;186;g2d624313899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d624313899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8" name="Google Shape;218;g2d624313899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d624313899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36" name="Google Shape;236;g2d624313899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d624313899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46" name="Google Shape;246;g2d624313899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d624313899_0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4" name="Google Shape;254;g2d624313899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65" name="Google Shape;265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1974b856cc_0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98" name="Google Shape;298;g31974b856cc_0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1974b856cc_0_1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6" name="Google Shape;306;g31974b856cc_0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1974b856cc_0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14" name="Google Shape;314;g31974b856cc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2d6d00c5bd2_2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32" name="Google Shape;332;g2d6d00c5bd2_2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19782968e5_0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74" name="Google Shape;374;g319782968e5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19782968e5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82" name="Google Shape;382;g319782968e5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19782968e5_0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98" name="Google Shape;398;g319782968e5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19782968e5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08" name="Google Shape;408;g319782968e5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19782968e5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16" name="Google Shape;416;g319782968e5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24" name="Google Shape;424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2d624313899_0_1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35" name="Google Shape;435;g2d624313899_0_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2d624313899_0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43" name="Google Shape;443;g2d624313899_0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2d624313899_0_1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3" name="Google Shape;453;g2d624313899_0_1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2d6d00c5bd2_3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91" name="Google Shape;491;g2d6d00c5bd2_3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0" name="Google Shape;500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7" name="Google Shape;507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5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45"/>
          <p:cNvSpPr txBox="1"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5"/>
          <p:cNvSpPr txBox="1"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472"/>
              <a:buNone/>
              <a:defRPr sz="1600" cap="none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104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45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5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5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164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6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4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6"/>
          <p:cNvSpPr txBox="1">
            <a:spLocks noGrp="1"/>
          </p:cNvSpPr>
          <p:nvPr>
            <p:ph type="body" idx="1"/>
          </p:nvPr>
        </p:nvSpPr>
        <p:spPr>
          <a:xfrm>
            <a:off x="581192" y="2180496"/>
            <a:ext cx="11029615" cy="367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25" name="Google Shape;25;p46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6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6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7"/>
          <p:cNvSpPr/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47"/>
          <p:cNvSpPr txBox="1"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 b="0" cap="none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7"/>
          <p:cNvSpPr txBox="1"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None/>
              <a:defRPr sz="1800" cap="none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47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7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7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8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48"/>
          <p:cNvSpPr txBox="1"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8"/>
          <p:cNvSpPr txBox="1">
            <a:spLocks noGrp="1"/>
          </p:cNvSpPr>
          <p:nvPr>
            <p:ph type="body" idx="1"/>
          </p:nvPr>
        </p:nvSpPr>
        <p:spPr>
          <a:xfrm>
            <a:off x="581193" y="2228003"/>
            <a:ext cx="5422390" cy="363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39" name="Google Shape;39;p48"/>
          <p:cNvSpPr txBox="1">
            <a:spLocks noGrp="1"/>
          </p:cNvSpPr>
          <p:nvPr>
            <p:ph type="body" idx="2"/>
          </p:nvPr>
        </p:nvSpPr>
        <p:spPr>
          <a:xfrm>
            <a:off x="6188417" y="2228003"/>
            <a:ext cx="5422392" cy="3633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0" name="Google Shape;40;p48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8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8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9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49"/>
          <p:cNvSpPr txBox="1"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49"/>
          <p:cNvSpPr txBox="1"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24"/>
              <a:buNone/>
              <a:defRPr sz="2200" b="0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49"/>
          <p:cNvSpPr txBox="1">
            <a:spLocks noGrp="1"/>
          </p:cNvSpPr>
          <p:nvPr>
            <p:ph type="body" idx="2"/>
          </p:nvPr>
        </p:nvSpPr>
        <p:spPr>
          <a:xfrm>
            <a:off x="581194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48" name="Google Shape;48;p49"/>
          <p:cNvSpPr txBox="1">
            <a:spLocks noGrp="1"/>
          </p:cNvSpPr>
          <p:nvPr>
            <p:ph type="body" idx="3"/>
          </p:nvPr>
        </p:nvSpPr>
        <p:spPr>
          <a:xfrm>
            <a:off x="6523735" y="2250892"/>
            <a:ext cx="5087073" cy="553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24"/>
              <a:buNone/>
              <a:defRPr sz="2200" b="0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49"/>
          <p:cNvSpPr txBox="1">
            <a:spLocks noGrp="1"/>
          </p:cNvSpPr>
          <p:nvPr>
            <p:ph type="body" idx="4"/>
          </p:nvPr>
        </p:nvSpPr>
        <p:spPr>
          <a:xfrm>
            <a:off x="6217709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50" name="Google Shape;50;p49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9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9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0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50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50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57" name="Google Shape;57;p50"/>
          <p:cNvSpPr/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50"/>
          <p:cNvSpPr txBox="1"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1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51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51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2"/>
          <p:cNvSpPr/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52"/>
          <p:cNvSpPr txBox="1"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58AC"/>
              </a:buClr>
              <a:buSzPts val="2000"/>
              <a:buFont typeface="Gill Sans"/>
              <a:buNone/>
              <a:defRPr sz="2000" b="0"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52"/>
          <p:cNvSpPr txBox="1">
            <a:spLocks noGrp="1"/>
          </p:cNvSpPr>
          <p:nvPr>
            <p:ph type="body" idx="1"/>
          </p:nvPr>
        </p:nvSpPr>
        <p:spPr>
          <a:xfrm>
            <a:off x="447816" y="601200"/>
            <a:ext cx="11292840" cy="42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544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40"/>
              <a:buChar char="◼"/>
              <a:defRPr sz="2000">
                <a:solidFill>
                  <a:schemeClr val="dk2"/>
                </a:solidFill>
              </a:defRPr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 sz="1800">
                <a:solidFill>
                  <a:schemeClr val="dk2"/>
                </a:solidFill>
              </a:defRPr>
            </a:lvl2pPr>
            <a:lvl3pPr marL="1371600" lvl="2" indent="-32207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 sz="1600">
                <a:solidFill>
                  <a:schemeClr val="dk2"/>
                </a:solidFill>
              </a:defRPr>
            </a:lvl3pPr>
            <a:lvl4pPr marL="1828800" lvl="3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4pPr>
            <a:lvl5pPr marL="2286000" lvl="4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5pPr>
            <a:lvl6pPr marL="2743200" lvl="5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6pPr>
            <a:lvl7pPr marL="3200400" lvl="6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7pPr>
            <a:lvl8pPr marL="3657600" lvl="7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8pPr>
            <a:lvl9pPr marL="4114800" lvl="8" indent="-310388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52"/>
          <p:cNvSpPr txBox="1">
            <a:spLocks noGrp="1"/>
          </p:cNvSpPr>
          <p:nvPr>
            <p:ph type="body" idx="2"/>
          </p:nvPr>
        </p:nvSpPr>
        <p:spPr>
          <a:xfrm>
            <a:off x="5740823" y="5262296"/>
            <a:ext cx="5869987" cy="689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SzPts val="1012"/>
              <a:buNone/>
              <a:defRPr sz="11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12"/>
              <a:buNone/>
              <a:defRPr sz="11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52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52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52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3"/>
          <p:cNvSpPr txBox="1"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ill Sans"/>
              <a:buNone/>
              <a:defRPr sz="2400" b="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53"/>
          <p:cNvSpPr>
            <a:spLocks noGrp="1"/>
          </p:cNvSpPr>
          <p:nvPr>
            <p:ph type="pic" idx="2"/>
          </p:nvPr>
        </p:nvSpPr>
        <p:spPr>
          <a:xfrm>
            <a:off x="447817" y="599725"/>
            <a:ext cx="11290859" cy="3557252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53"/>
          <p:cNvSpPr txBox="1">
            <a:spLocks noGrp="1"/>
          </p:cNvSpPr>
          <p:nvPr>
            <p:ph type="body" idx="1"/>
          </p:nvPr>
        </p:nvSpPr>
        <p:spPr>
          <a:xfrm>
            <a:off x="581192" y="5260127"/>
            <a:ext cx="11029617" cy="598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104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75" name="Google Shape;75;p53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53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53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4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54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54"/>
          <p:cNvSpPr txBox="1">
            <a:spLocks noGrp="1"/>
          </p:cNvSpPr>
          <p:nvPr>
            <p:ph type="body" idx="1"/>
          </p:nvPr>
        </p:nvSpPr>
        <p:spPr>
          <a:xfrm rot="5400000">
            <a:off x="4334603" y="-1417408"/>
            <a:ext cx="3522794" cy="11029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2207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/>
            </a:lvl2pPr>
            <a:lvl3pPr marL="1371600" lvl="2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/>
            </a:lvl3pPr>
            <a:lvl4pPr marL="1828800" lvl="3" indent="-298703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4pPr>
            <a:lvl5pPr marL="2286000" lvl="4" indent="-2987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82" name="Google Shape;82;p54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54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54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5"/>
          <p:cNvSpPr/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55"/>
          <p:cNvSpPr txBox="1">
            <a:spLocks noGrp="1"/>
          </p:cNvSpPr>
          <p:nvPr>
            <p:ph type="title"/>
          </p:nvPr>
        </p:nvSpPr>
        <p:spPr>
          <a:xfrm rot="5400000">
            <a:off x="7249746" y="2265181"/>
            <a:ext cx="5183073" cy="2004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55"/>
          <p:cNvSpPr txBox="1">
            <a:spLocks noGrp="1"/>
          </p:cNvSpPr>
          <p:nvPr>
            <p:ph type="body" idx="1"/>
          </p:nvPr>
        </p:nvSpPr>
        <p:spPr>
          <a:xfrm rot="5400000">
            <a:off x="2131526" y="-680877"/>
            <a:ext cx="5183073" cy="789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89" name="Google Shape;89;p55"/>
          <p:cNvSpPr txBox="1">
            <a:spLocks noGrp="1"/>
          </p:cNvSpPr>
          <p:nvPr>
            <p:ph type="dt" idx="10"/>
          </p:nvPr>
        </p:nvSpPr>
        <p:spPr>
          <a:xfrm>
            <a:off x="8993673" y="5956137"/>
            <a:ext cx="132814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55"/>
          <p:cNvSpPr txBox="1">
            <a:spLocks noGrp="1"/>
          </p:cNvSpPr>
          <p:nvPr>
            <p:ph type="ftr" idx="11"/>
          </p:nvPr>
        </p:nvSpPr>
        <p:spPr>
          <a:xfrm>
            <a:off x="774923" y="5951811"/>
            <a:ext cx="789627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55"/>
          <p:cNvSpPr txBox="1">
            <a:spLocks noGrp="1"/>
          </p:cNvSpPr>
          <p:nvPr>
            <p:ph type="sldNum" idx="12"/>
          </p:nvPr>
        </p:nvSpPr>
        <p:spPr>
          <a:xfrm>
            <a:off x="10446615" y="5956137"/>
            <a:ext cx="11641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4"/>
          <p:cNvSpPr txBox="1"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  <a:defRPr sz="2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44"/>
          <p:cNvSpPr txBox="1"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333756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22072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  <a:defRPr sz="16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1038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29870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29870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298703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8" name="Google Shape;8;p44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9" name="Google Shape;9;p44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0" name="Google Shape;10;p44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11" name="Google Shape;11;p44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44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44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"/>
          <p:cNvSpPr txBox="1">
            <a:spLocks noGrp="1"/>
          </p:cNvSpPr>
          <p:nvPr>
            <p:ph type="ctrTitle"/>
          </p:nvPr>
        </p:nvSpPr>
        <p:spPr>
          <a:xfrm>
            <a:off x="599226" y="3158569"/>
            <a:ext cx="10993549" cy="1578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ill Sans"/>
              <a:buNone/>
            </a:pPr>
            <a:r>
              <a:rPr lang="es-ES" dirty="0">
                <a:solidFill>
                  <a:schemeClr val="lt1"/>
                </a:solidFill>
              </a:rPr>
              <a:t>MANUAL</a:t>
            </a:r>
            <a:br>
              <a:rPr lang="es-ES" dirty="0">
                <a:solidFill>
                  <a:schemeClr val="lt1"/>
                </a:solidFill>
              </a:rPr>
            </a:br>
            <a:r>
              <a:rPr lang="es-ES" dirty="0">
                <a:solidFill>
                  <a:schemeClr val="lt1"/>
                </a:solidFill>
              </a:rPr>
              <a:t>CONVUNI RESTFULL JAVA</a:t>
            </a:r>
            <a:endParaRPr dirty="0"/>
          </a:p>
        </p:txBody>
      </p:sp>
      <p:sp>
        <p:nvSpPr>
          <p:cNvPr id="97" name="Google Shape;97;p1"/>
          <p:cNvSpPr txBox="1">
            <a:spLocks noGrp="1"/>
          </p:cNvSpPr>
          <p:nvPr>
            <p:ph type="subTitle" idx="1"/>
          </p:nvPr>
        </p:nvSpPr>
        <p:spPr>
          <a:xfrm>
            <a:off x="599226" y="4572000"/>
            <a:ext cx="4261531" cy="1812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72"/>
              <a:buNone/>
            </a:pPr>
            <a:endParaRPr b="1" dirty="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SzPts val="1472"/>
              <a:buNone/>
            </a:pPr>
            <a:r>
              <a:rPr lang="es-ES" b="1" dirty="0">
                <a:solidFill>
                  <a:schemeClr val="lt1"/>
                </a:solidFill>
              </a:rPr>
              <a:t>INTEGRANTES:</a:t>
            </a:r>
            <a:r>
              <a:rPr lang="es-ES" dirty="0">
                <a:solidFill>
                  <a:schemeClr val="lt1"/>
                </a:solidFill>
              </a:rPr>
              <a:t> 	JOAN COBEÑA			JUAN PASQUEL			EDISON VERDESOTO</a:t>
            </a:r>
            <a:endParaRPr dirty="0">
              <a:solidFill>
                <a:schemeClr val="lt1"/>
              </a:solidFill>
            </a:endParaRPr>
          </a:p>
        </p:txBody>
      </p:sp>
      <p:pic>
        <p:nvPicPr>
          <p:cNvPr id="98" name="Google Shape;98;p1" descr="Resultado de imagen para esp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9597" y="716302"/>
            <a:ext cx="11647502" cy="219392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9037063" y="5301801"/>
            <a:ext cx="4261531" cy="123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590B8"/>
              </a:buClr>
              <a:buSzPts val="1472"/>
              <a:buFont typeface="Noto Sans Symbols"/>
              <a:buNone/>
            </a:pPr>
            <a:r>
              <a:rPr lang="es-ES" sz="1600" b="1" i="0" u="none" strike="noStrike" cap="none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FECHA:  </a:t>
            </a:r>
            <a:r>
              <a:rPr lang="es-ES" sz="1600" b="1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12</a:t>
            </a:r>
            <a:r>
              <a:rPr lang="es-ES" sz="1600" b="1" i="0" u="none" strike="noStrike" cap="none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/05/2026</a:t>
            </a:r>
            <a:endParaRPr sz="1600" b="0" i="0" u="none" strike="noStrike" cap="none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Clr>
                <a:srgbClr val="4590B8"/>
              </a:buClr>
              <a:buSzPts val="1472"/>
              <a:buFont typeface="Noto Sans Symbols"/>
              <a:buNone/>
            </a:pPr>
            <a:r>
              <a:rPr lang="es-ES" sz="1600" b="1" i="0" u="none" strike="noStrike" cap="none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ING: </a:t>
            </a:r>
            <a:r>
              <a:rPr lang="es-ES" sz="1600" b="0" i="0" u="none" strike="noStrike" cap="none" dirty="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CAMPAÑA MAURICIO</a:t>
            </a:r>
            <a:endParaRPr sz="1600" b="1" i="0" u="none" strike="noStrike" cap="none" dirty="0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0" name="Google Shape;100;p1"/>
          <p:cNvSpPr txBox="1"/>
          <p:nvPr/>
        </p:nvSpPr>
        <p:spPr>
          <a:xfrm>
            <a:off x="11817675" y="6474048"/>
            <a:ext cx="37432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ill Sans"/>
              <a:buNone/>
            </a:pPr>
            <a:r>
              <a:rPr lang="es-ES" sz="20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/>
          <p:cNvSpPr/>
          <p:nvPr/>
        </p:nvSpPr>
        <p:spPr>
          <a:xfrm>
            <a:off x="0" y="614406"/>
            <a:ext cx="12192000" cy="624359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ill Sans"/>
              <a:buNone/>
            </a:pPr>
            <a:endParaRPr sz="1800" b="0" i="0" u="none" strike="noStrike" cap="non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7" name="Google Shape;107;p2"/>
          <p:cNvSpPr txBox="1">
            <a:spLocks noGrp="1"/>
          </p:cNvSpPr>
          <p:nvPr>
            <p:ph type="body" idx="1"/>
          </p:nvPr>
        </p:nvSpPr>
        <p:spPr>
          <a:xfrm>
            <a:off x="596348" y="701336"/>
            <a:ext cx="3389726" cy="5424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306000" lvl="0" indent="-30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s-ES">
                <a:solidFill>
                  <a:schemeClr val="lt1"/>
                </a:solidFill>
              </a:rPr>
              <a:t>DESARROLLO</a:t>
            </a:r>
            <a:endParaRPr/>
          </a:p>
          <a:p>
            <a:pPr marL="630000" lvl="1" indent="-320020" algn="l" rtl="0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lang="es-ES">
                <a:solidFill>
                  <a:schemeClr val="lt1"/>
                </a:solidFill>
              </a:rPr>
              <a:t>OBJETIVO</a:t>
            </a:r>
            <a:endParaRPr/>
          </a:p>
          <a:p>
            <a:pPr marL="630000" lvl="1" indent="-320020" algn="l" rtl="0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lang="es-ES">
                <a:solidFill>
                  <a:schemeClr val="lt1"/>
                </a:solidFill>
              </a:rPr>
              <a:t>CREACIÓN DEL SERVIDOR SOAP EN DOTNET</a:t>
            </a:r>
            <a:endParaRPr/>
          </a:p>
          <a:p>
            <a:pPr marL="630000" lvl="1" indent="-320020" algn="l" rtl="0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lang="es-ES" sz="1800">
                <a:solidFill>
                  <a:schemeClr val="lt1"/>
                </a:solidFill>
              </a:rPr>
              <a:t>CREACIÓN DEL PROYECTO – CLIENTE CONSOLA</a:t>
            </a:r>
            <a:endParaRPr/>
          </a:p>
          <a:p>
            <a:pPr marL="630000" lvl="1" indent="-320020" algn="l" rtl="0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lang="es-ES" sz="1800">
                <a:solidFill>
                  <a:schemeClr val="lt1"/>
                </a:solidFill>
              </a:rPr>
              <a:t>CREACIÓN DEL PROYECTO – CLIENTE ESCRITORIO</a:t>
            </a:r>
            <a:endParaRPr/>
          </a:p>
          <a:p>
            <a:pPr marL="630000" lvl="1" indent="-320020" algn="l" rtl="0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lang="es-ES" sz="1800">
                <a:solidFill>
                  <a:schemeClr val="lt1"/>
                </a:solidFill>
              </a:rPr>
              <a:t>CREACIÓN DEL PROYECTO – CLIENTE WEB</a:t>
            </a:r>
            <a:endParaRPr/>
          </a:p>
          <a:p>
            <a:pPr marL="630000" lvl="1" indent="-320020" algn="l" rtl="0">
              <a:lnSpc>
                <a:spcPct val="100000"/>
              </a:lnSpc>
              <a:spcBef>
                <a:spcPts val="872"/>
              </a:spcBef>
              <a:spcAft>
                <a:spcPts val="0"/>
              </a:spcAft>
              <a:buSzPts val="1472"/>
              <a:buChar char="◼"/>
            </a:pPr>
            <a:r>
              <a:rPr lang="es-ES" sz="1800">
                <a:solidFill>
                  <a:schemeClr val="lt1"/>
                </a:solidFill>
              </a:rPr>
              <a:t>CREACIÓN DEL PROYECTO – CLIENTE MÓVIL</a:t>
            </a:r>
            <a:endParaRPr/>
          </a:p>
          <a:p>
            <a:pPr marL="306000" marR="0" lvl="0" indent="-306000" algn="l" rtl="0">
              <a:lnSpc>
                <a:spcPct val="100000"/>
              </a:lnSpc>
              <a:spcBef>
                <a:spcPts val="906"/>
              </a:spcBef>
              <a:spcAft>
                <a:spcPts val="0"/>
              </a:spcAft>
              <a:buSzPts val="1656"/>
              <a:buChar char="◼"/>
            </a:pPr>
            <a:r>
              <a:rPr lang="es-ES">
                <a:solidFill>
                  <a:schemeClr val="lt1"/>
                </a:solidFill>
              </a:rPr>
              <a:t>CONCLUSIONES</a:t>
            </a:r>
            <a:endParaRPr/>
          </a:p>
          <a:p>
            <a:pPr marL="306000" marR="0" lvl="0" indent="-306000" algn="l" rtl="0">
              <a:lnSpc>
                <a:spcPct val="100000"/>
              </a:lnSpc>
              <a:spcBef>
                <a:spcPts val="906"/>
              </a:spcBef>
              <a:spcAft>
                <a:spcPts val="0"/>
              </a:spcAft>
              <a:buSzPts val="1656"/>
              <a:buChar char="◼"/>
            </a:pPr>
            <a:r>
              <a:rPr lang="es-ES">
                <a:solidFill>
                  <a:schemeClr val="lt1"/>
                </a:solidFill>
              </a:rPr>
              <a:t>RECOMENDACIONES</a:t>
            </a:r>
            <a:endParaRPr/>
          </a:p>
        </p:txBody>
      </p:sp>
      <p:pic>
        <p:nvPicPr>
          <p:cNvPr id="108" name="Google Shape;108;p2" descr="Resultado de imagen para AGENDA 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91522" y="1935576"/>
            <a:ext cx="6489819" cy="3007477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"/>
          <p:cNvSpPr txBox="1"/>
          <p:nvPr/>
        </p:nvSpPr>
        <p:spPr>
          <a:xfrm>
            <a:off x="11817675" y="6474048"/>
            <a:ext cx="37432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Gill Sans"/>
              <a:buNone/>
            </a:pPr>
            <a:r>
              <a:rPr lang="es-ES" sz="2000" b="0" i="0" u="none" strike="noStrike" cap="non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15" name="Google Shape;115;p3"/>
          <p:cNvSpPr txBox="1">
            <a:spLocks noGrp="1"/>
          </p:cNvSpPr>
          <p:nvPr>
            <p:ph type="body" idx="1"/>
          </p:nvPr>
        </p:nvSpPr>
        <p:spPr>
          <a:xfrm>
            <a:off x="581192" y="2180496"/>
            <a:ext cx="8589441" cy="367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ES" dirty="0">
                <a:latin typeface="Cambria"/>
                <a:ea typeface="Cambria"/>
                <a:cs typeface="Cambria"/>
                <a:sym typeface="Cambria"/>
              </a:rPr>
              <a:t>1</a:t>
            </a:r>
            <a:r>
              <a:rPr lang="es-ES" sz="1800" dirty="0">
                <a:latin typeface="Cambria"/>
                <a:ea typeface="Cambria"/>
                <a:cs typeface="Cambria"/>
                <a:sym typeface="Cambria"/>
              </a:rPr>
              <a:t>.1	OBJETIVO</a:t>
            </a:r>
            <a:endParaRPr dirty="0"/>
          </a:p>
          <a:p>
            <a:pPr marL="342900" marR="0" lvl="0" indent="-237744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None/>
            </a:pPr>
            <a:endParaRPr sz="1800" dirty="0">
              <a:latin typeface="Cambria"/>
              <a:ea typeface="Cambria"/>
              <a:cs typeface="Cambria"/>
              <a:sym typeface="Cambria"/>
            </a:endParaRPr>
          </a:p>
          <a:p>
            <a:pPr marL="123444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MX" dirty="0">
                <a:latin typeface="Cambria"/>
                <a:ea typeface="Cambria"/>
                <a:cs typeface="Cambria"/>
                <a:sym typeface="Cambria"/>
              </a:rPr>
              <a:t>Desarrollar e implementar un API </a:t>
            </a:r>
            <a:r>
              <a:rPr lang="es-MX" dirty="0" err="1">
                <a:latin typeface="Cambria"/>
                <a:ea typeface="Cambria"/>
                <a:cs typeface="Cambria"/>
                <a:sym typeface="Cambria"/>
              </a:rPr>
              <a:t>RESTful</a:t>
            </a:r>
            <a:r>
              <a:rPr lang="es-MX" dirty="0">
                <a:latin typeface="Cambria"/>
                <a:ea typeface="Cambria"/>
                <a:cs typeface="Cambria"/>
                <a:sym typeface="Cambria"/>
              </a:rPr>
              <a:t> mediante </a:t>
            </a:r>
            <a:r>
              <a:rPr lang="es-MX" dirty="0" err="1">
                <a:latin typeface="Cambria"/>
                <a:ea typeface="Cambria"/>
                <a:cs typeface="Cambria"/>
                <a:sym typeface="Cambria"/>
              </a:rPr>
              <a:t>Jakarta</a:t>
            </a:r>
            <a:r>
              <a:rPr lang="es-MX" dirty="0">
                <a:latin typeface="Cambria"/>
                <a:ea typeface="Cambria"/>
                <a:cs typeface="Cambria"/>
                <a:sym typeface="Cambria"/>
              </a:rPr>
              <a:t> EE (JAX-RS) para el sistema de conversión de unidades, permitiendo el consumo seguro de recursos de longitud, masa y temperatura desde múltiples plataformas clientes mediante el intercambio de datos en formato JSON.</a:t>
            </a:r>
          </a:p>
        </p:txBody>
      </p:sp>
      <p:sp>
        <p:nvSpPr>
          <p:cNvPr id="116" name="Google Shape;116;p3"/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MÓVIL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d6d00c5bd2_0_0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22" name="Google Shape;122;g2d6d00c5bd2_0_0"/>
          <p:cNvSpPr txBox="1">
            <a:spLocks noGrp="1"/>
          </p:cNvSpPr>
          <p:nvPr>
            <p:ph type="body" idx="1"/>
          </p:nvPr>
        </p:nvSpPr>
        <p:spPr>
          <a:xfrm>
            <a:off x="581200" y="2180500"/>
            <a:ext cx="8589300" cy="16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/>
          </a:bodyPr>
          <a:lstStyle/>
          <a:p>
            <a:pPr marL="342900" marR="0" lvl="0" indent="-359017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85"/>
              <a:buChar char="∙"/>
            </a:pPr>
            <a:r>
              <a:rPr lang="es-ES" sz="1929" b="1" dirty="0">
                <a:latin typeface="Cambria"/>
                <a:ea typeface="Cambria"/>
                <a:cs typeface="Cambria"/>
                <a:sym typeface="Cambria"/>
              </a:rPr>
              <a:t>1.2 	Creación del servicio</a:t>
            </a:r>
            <a:endParaRPr sz="1929" b="1" dirty="0">
              <a:latin typeface="Cambria"/>
              <a:ea typeface="Cambria"/>
              <a:cs typeface="Cambria"/>
              <a:sym typeface="Cambria"/>
            </a:endParaRPr>
          </a:p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948"/>
              <a:buNone/>
            </a:pP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5078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∙"/>
            </a:pPr>
            <a:r>
              <a:rPr lang="es-MX" dirty="0">
                <a:latin typeface="Cambria"/>
                <a:ea typeface="Cambria"/>
                <a:cs typeface="Cambria"/>
                <a:sym typeface="Cambria"/>
              </a:rPr>
              <a:t>Se crea el proyecto en NetBeans seleccionando ‘New Project’, ‘Java </a:t>
            </a:r>
            <a:r>
              <a:rPr lang="es-MX" dirty="0" err="1">
                <a:latin typeface="Cambria"/>
                <a:ea typeface="Cambria"/>
                <a:cs typeface="Cambria"/>
                <a:sym typeface="Cambria"/>
              </a:rPr>
              <a:t>with</a:t>
            </a:r>
            <a:r>
              <a:rPr lang="es-MX" dirty="0">
                <a:latin typeface="Cambria"/>
                <a:ea typeface="Cambria"/>
                <a:cs typeface="Cambria"/>
                <a:sym typeface="Cambria"/>
              </a:rPr>
              <a:t> Maven’ y ‘Web </a:t>
            </a:r>
            <a:r>
              <a:rPr lang="es-MX" dirty="0" err="1">
                <a:latin typeface="Cambria"/>
                <a:ea typeface="Cambria"/>
                <a:cs typeface="Cambria"/>
                <a:sym typeface="Cambria"/>
              </a:rPr>
              <a:t>Application</a:t>
            </a:r>
            <a:r>
              <a:rPr lang="es-MX" dirty="0">
                <a:latin typeface="Cambria"/>
                <a:ea typeface="Cambria"/>
                <a:cs typeface="Cambria"/>
                <a:sym typeface="Cambria"/>
              </a:rPr>
              <a:t>’. Se coloca el nombre del proyecto, ubicación y grupo. Se selecciona el servidor Payara y la versión de </a:t>
            </a:r>
            <a:r>
              <a:rPr lang="es-MX" dirty="0" err="1">
                <a:latin typeface="Cambria"/>
                <a:ea typeface="Cambria"/>
                <a:cs typeface="Cambria"/>
                <a:sym typeface="Cambria"/>
              </a:rPr>
              <a:t>Jakarta</a:t>
            </a:r>
            <a:r>
              <a:rPr lang="es-MX" dirty="0">
                <a:latin typeface="Cambria"/>
                <a:ea typeface="Cambria"/>
                <a:cs typeface="Cambria"/>
                <a:sym typeface="Cambria"/>
              </a:rPr>
              <a:t>. Finalmente se hace clic en ‘</a:t>
            </a:r>
            <a:r>
              <a:rPr lang="es-MX" dirty="0" err="1">
                <a:latin typeface="Cambria"/>
                <a:ea typeface="Cambria"/>
                <a:cs typeface="Cambria"/>
                <a:sym typeface="Cambria"/>
              </a:rPr>
              <a:t>Finish</a:t>
            </a:r>
            <a:r>
              <a:rPr lang="es-MX" dirty="0">
                <a:latin typeface="Cambria"/>
                <a:ea typeface="Cambria"/>
                <a:cs typeface="Cambria"/>
                <a:sym typeface="Cambria"/>
              </a:rPr>
              <a:t>’.</a:t>
            </a:r>
            <a:endParaRPr sz="18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g2d6d00c5bd2_0_0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image36.png">
            <a:extLst>
              <a:ext uri="{FF2B5EF4-FFF2-40B4-BE49-F238E27FC236}">
                <a16:creationId xmlns:a16="http://schemas.microsoft.com/office/drawing/2014/main" id="{9DD3AA3B-71CD-41A0-94E9-1AA996A870B9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234986" y="3724354"/>
            <a:ext cx="3249332" cy="2164222"/>
          </a:xfrm>
          <a:prstGeom prst="rect">
            <a:avLst/>
          </a:prstGeom>
          <a:ln/>
        </p:spPr>
      </p:pic>
      <p:pic>
        <p:nvPicPr>
          <p:cNvPr id="8" name="image49.png">
            <a:extLst>
              <a:ext uri="{FF2B5EF4-FFF2-40B4-BE49-F238E27FC236}">
                <a16:creationId xmlns:a16="http://schemas.microsoft.com/office/drawing/2014/main" id="{8ABA2AAA-2665-42FC-A20C-12B2C599D344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2953500" y="3716772"/>
            <a:ext cx="3480507" cy="2164222"/>
          </a:xfrm>
          <a:prstGeom prst="rect">
            <a:avLst/>
          </a:prstGeom>
          <a:ln/>
        </p:spPr>
      </p:pic>
      <p:pic>
        <p:nvPicPr>
          <p:cNvPr id="9" name="image13.png">
            <a:extLst>
              <a:ext uri="{FF2B5EF4-FFF2-40B4-BE49-F238E27FC236}">
                <a16:creationId xmlns:a16="http://schemas.microsoft.com/office/drawing/2014/main" id="{5675B0B0-69AE-4350-A7C6-4D9153096144}"/>
              </a:ext>
            </a:extLst>
          </p:cNvPr>
          <p:cNvPicPr/>
          <p:nvPr/>
        </p:nvPicPr>
        <p:blipFill>
          <a:blip r:embed="rId5"/>
          <a:srcRect/>
          <a:stretch>
            <a:fillRect/>
          </a:stretch>
        </p:blipFill>
        <p:spPr>
          <a:xfrm>
            <a:off x="6096000" y="3709191"/>
            <a:ext cx="3131854" cy="2179386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40" name="Google Shape;140;p9"/>
          <p:cNvSpPr txBox="1">
            <a:spLocks noGrp="1"/>
          </p:cNvSpPr>
          <p:nvPr>
            <p:ph type="body" idx="1"/>
          </p:nvPr>
        </p:nvSpPr>
        <p:spPr>
          <a:xfrm>
            <a:off x="581192" y="2180497"/>
            <a:ext cx="8589441" cy="1248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31355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350"/>
              <a:buChar char="∙"/>
            </a:pPr>
            <a:r>
              <a:rPr lang="es-ES" sz="1350" b="1" dirty="0">
                <a:latin typeface="Cambria"/>
                <a:ea typeface="Cambria"/>
                <a:cs typeface="Cambria"/>
                <a:sym typeface="Cambria"/>
              </a:rPr>
              <a:t>1.2 	CREACIÓN DEL SERVIDOR </a:t>
            </a:r>
            <a:endParaRPr sz="1350" b="1" dirty="0"/>
          </a:p>
          <a:p>
            <a:pPr marL="457200" lvl="0" indent="-33375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∙"/>
            </a:pPr>
            <a:r>
              <a:rPr lang="es-MX" sz="1300" dirty="0">
                <a:latin typeface="Cambria"/>
                <a:ea typeface="Cambria"/>
                <a:cs typeface="Cambria"/>
                <a:sym typeface="Cambria"/>
              </a:rPr>
              <a:t>Al tratarse de una arquitectura </a:t>
            </a:r>
            <a:r>
              <a:rPr lang="es-MX" sz="1300" dirty="0" err="1">
                <a:latin typeface="Cambria"/>
                <a:ea typeface="Cambria"/>
                <a:cs typeface="Cambria"/>
                <a:sym typeface="Cambria"/>
              </a:rPr>
              <a:t>RESTful</a:t>
            </a:r>
            <a:r>
              <a:rPr lang="es-MX" sz="1300" dirty="0">
                <a:latin typeface="Cambria"/>
                <a:ea typeface="Cambria"/>
                <a:cs typeface="Cambria"/>
                <a:sym typeface="Cambria"/>
              </a:rPr>
              <a:t> sin conexión a base de datos, se crea la estructura del proyecto enfocada en las dos divisiones funcionales principales. Se configura opciones de CORS para la comunicación. </a:t>
            </a:r>
          </a:p>
        </p:txBody>
      </p:sp>
      <p:sp>
        <p:nvSpPr>
          <p:cNvPr id="141" name="Google Shape;141;p9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5AF2B4D-EF06-42C9-B25D-658785D5D2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5483" y="3163885"/>
            <a:ext cx="4237739" cy="352505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d624313899_0_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49" name="Google Shape;149;g2d624313899_0_5"/>
          <p:cNvSpPr txBox="1">
            <a:spLocks noGrp="1"/>
          </p:cNvSpPr>
          <p:nvPr>
            <p:ph type="body" idx="1"/>
          </p:nvPr>
        </p:nvSpPr>
        <p:spPr>
          <a:xfrm>
            <a:off x="581200" y="2180500"/>
            <a:ext cx="4557900" cy="38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50901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77"/>
              <a:buChar char="∙"/>
            </a:pPr>
            <a:r>
              <a:rPr lang="es-ES" sz="1677" b="1" dirty="0">
                <a:latin typeface="Cambria"/>
                <a:ea typeface="Cambria"/>
                <a:cs typeface="Cambria"/>
                <a:sym typeface="Cambria"/>
              </a:rPr>
              <a:t>ESTRUCTURA MVC</a:t>
            </a:r>
            <a:endParaRPr sz="1677" b="1" dirty="0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90"/>
              <a:buNone/>
            </a:pPr>
            <a:endParaRPr sz="1677" b="1" dirty="0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350901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77"/>
              <a:buFont typeface="Noto Sans Symbols"/>
              <a:buChar char="∙"/>
            </a:pPr>
            <a:r>
              <a:rPr lang="es-ES" sz="1677" dirty="0">
                <a:latin typeface="Cambria"/>
                <a:ea typeface="Cambria"/>
                <a:cs typeface="Cambria"/>
                <a:sym typeface="Cambria"/>
              </a:rPr>
              <a:t>El proyecto sigue el patrón Modelo-Vista-Controlador (MVC):</a:t>
            </a:r>
            <a:endParaRPr sz="1677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90"/>
              <a:buNone/>
            </a:pPr>
            <a:endParaRPr sz="1677" dirty="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35089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77"/>
              <a:buFont typeface="Cambria"/>
              <a:buChar char="∙"/>
            </a:pPr>
            <a:r>
              <a:rPr lang="es-ES" sz="1677" b="1" dirty="0">
                <a:latin typeface="Cambria"/>
                <a:ea typeface="Cambria"/>
                <a:cs typeface="Cambria"/>
                <a:sym typeface="Cambria"/>
              </a:rPr>
              <a:t>Se define el nombre de los diferentes paquetes para la integración correcta del servicio, como modelo, servicio, </a:t>
            </a:r>
            <a:r>
              <a:rPr lang="es-ES" sz="1677" b="1" dirty="0" err="1">
                <a:latin typeface="Cambria"/>
                <a:ea typeface="Cambria"/>
                <a:cs typeface="Cambria"/>
                <a:sym typeface="Cambria"/>
              </a:rPr>
              <a:t>config</a:t>
            </a:r>
            <a:endParaRPr sz="1677" b="1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77" b="1" dirty="0">
              <a:latin typeface="Cambria"/>
              <a:ea typeface="Cambria"/>
              <a:cs typeface="Cambria"/>
              <a:sym typeface="Cambria"/>
            </a:endParaRPr>
          </a:p>
          <a:p>
            <a:pPr marL="45720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90"/>
              <a:buNone/>
            </a:pPr>
            <a:endParaRPr sz="1591" dirty="0">
              <a:latin typeface="Cambria"/>
              <a:ea typeface="Cambria"/>
              <a:cs typeface="Cambria"/>
              <a:sym typeface="Cambria"/>
            </a:endParaRPr>
          </a:p>
          <a:p>
            <a:pPr marL="342900" marR="0" lvl="0" indent="-245629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None/>
            </a:pPr>
            <a:endParaRPr sz="180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0" name="Google Shape;150;g2d624313899_0_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image34.png">
            <a:extLst>
              <a:ext uri="{FF2B5EF4-FFF2-40B4-BE49-F238E27FC236}">
                <a16:creationId xmlns:a16="http://schemas.microsoft.com/office/drawing/2014/main" id="{284E1F73-B4F8-4A58-B03E-2347291784CD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5775792" y="2905125"/>
            <a:ext cx="2808300" cy="1478616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d624313899_0_2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65" name="Google Shape;165;g2d624313899_0_26"/>
          <p:cNvSpPr txBox="1">
            <a:spLocks noGrp="1"/>
          </p:cNvSpPr>
          <p:nvPr>
            <p:ph type="body" idx="1"/>
          </p:nvPr>
        </p:nvSpPr>
        <p:spPr>
          <a:xfrm>
            <a:off x="581192" y="827236"/>
            <a:ext cx="3709200" cy="39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 dirty="0">
                <a:latin typeface="Cambria"/>
                <a:ea typeface="Cambria"/>
                <a:cs typeface="Cambria"/>
                <a:sym typeface="Cambria"/>
              </a:rPr>
              <a:t>SERVICIO</a:t>
            </a:r>
            <a:endParaRPr sz="1670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790"/>
              <a:buFont typeface="Arial"/>
              <a:buNone/>
            </a:pPr>
            <a:r>
              <a:rPr lang="es-MX" sz="1670" dirty="0">
                <a:latin typeface="Cambria"/>
                <a:ea typeface="Cambria"/>
                <a:cs typeface="Cambria"/>
                <a:sym typeface="Cambria"/>
              </a:rPr>
              <a:t>Aquí se separa la lógica matemática y de seguridad del protocolo de comunicación. </a:t>
            </a:r>
          </a:p>
        </p:txBody>
      </p:sp>
      <p:sp>
        <p:nvSpPr>
          <p:cNvPr id="166" name="Google Shape;166;g2d624313899_0_2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A26FD5E-E96C-432B-96C9-3CFABCBCAC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3728" y="3000705"/>
            <a:ext cx="5713026" cy="356803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d624313899_0_7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189" name="Google Shape;189;g2d624313899_0_71"/>
          <p:cNvSpPr txBox="1">
            <a:spLocks noGrp="1"/>
          </p:cNvSpPr>
          <p:nvPr>
            <p:ph type="body" idx="1"/>
          </p:nvPr>
        </p:nvSpPr>
        <p:spPr>
          <a:xfrm>
            <a:off x="684150" y="1921750"/>
            <a:ext cx="60186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4140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PRUEBAS DEL SERVICIO</a:t>
            </a:r>
            <a:endParaRPr sz="167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0" name="Google Shape;190;g2d624313899_0_71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" name="image23.png">
            <a:extLst>
              <a:ext uri="{FF2B5EF4-FFF2-40B4-BE49-F238E27FC236}">
                <a16:creationId xmlns:a16="http://schemas.microsoft.com/office/drawing/2014/main" id="{B3E360AA-5FE3-4F3A-86C2-BFCAEE70A165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743634" y="3723387"/>
            <a:ext cx="6342531" cy="1763013"/>
          </a:xfrm>
          <a:prstGeom prst="rect">
            <a:avLst/>
          </a:prstGeom>
          <a:ln/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BCE3C0CC-EECF-42D5-A810-81A07E92382E}"/>
              </a:ext>
            </a:extLst>
          </p:cNvPr>
          <p:cNvSpPr txBox="1"/>
          <p:nvPr/>
        </p:nvSpPr>
        <p:spPr>
          <a:xfrm>
            <a:off x="1259541" y="2709687"/>
            <a:ext cx="6100482" cy="863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s-MX" sz="1670" b="0" i="0" u="none" strike="noStrike" kern="0" cap="none" spc="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Cambria"/>
                <a:ea typeface="Cambria"/>
                <a:cs typeface="Cambria"/>
                <a:sym typeface="Cambria"/>
              </a:rPr>
              <a:t>Para probar la correcta exposición y funcionamiento de los métodos, se revisar el estado del servidor desde el navegador o la consola del servidor. </a:t>
            </a:r>
            <a:endParaRPr lang="es-EC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d624313899_0_5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21" name="Google Shape;221;g2d624313899_0_51"/>
          <p:cNvSpPr txBox="1">
            <a:spLocks noGrp="1"/>
          </p:cNvSpPr>
          <p:nvPr>
            <p:ph type="body" idx="1"/>
          </p:nvPr>
        </p:nvSpPr>
        <p:spPr>
          <a:xfrm>
            <a:off x="581200" y="1983000"/>
            <a:ext cx="8245500" cy="21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564" b="1" dirty="0">
                <a:latin typeface="Cambria"/>
                <a:ea typeface="Cambria"/>
                <a:cs typeface="Cambria"/>
                <a:sym typeface="Cambria"/>
              </a:rPr>
              <a:t>1.3 	CREACIÓN DEL PROYECTO CLIENTE CONSOLA</a:t>
            </a:r>
            <a:endParaRPr sz="1564" b="1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64" b="1" dirty="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27977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65"/>
              <a:buFont typeface="Cambria"/>
              <a:buChar char="◼"/>
            </a:pPr>
            <a:r>
              <a:rPr lang="es-MX" sz="1564" dirty="0">
                <a:latin typeface="Cambria"/>
                <a:ea typeface="Cambria"/>
                <a:cs typeface="Cambria"/>
                <a:sym typeface="Cambria"/>
              </a:rPr>
              <a:t>El proyecto se crea usando NetBeans seleccionando ‘Nuevo Proyecto’, ‘Java </a:t>
            </a:r>
            <a:r>
              <a:rPr lang="es-MX" sz="1564" dirty="0" err="1">
                <a:latin typeface="Cambria"/>
                <a:ea typeface="Cambria"/>
                <a:cs typeface="Cambria"/>
                <a:sym typeface="Cambria"/>
              </a:rPr>
              <a:t>with</a:t>
            </a:r>
            <a:r>
              <a:rPr lang="es-MX" sz="1564" dirty="0">
                <a:latin typeface="Cambria"/>
                <a:ea typeface="Cambria"/>
                <a:cs typeface="Cambria"/>
                <a:sym typeface="Cambria"/>
              </a:rPr>
              <a:t> Maven’ y ‘Java </a:t>
            </a:r>
            <a:r>
              <a:rPr lang="es-MX" sz="1564" dirty="0" err="1">
                <a:latin typeface="Cambria"/>
                <a:ea typeface="Cambria"/>
                <a:cs typeface="Cambria"/>
                <a:sym typeface="Cambria"/>
              </a:rPr>
              <a:t>Application</a:t>
            </a:r>
            <a:r>
              <a:rPr lang="es-MX" sz="1564" dirty="0">
                <a:latin typeface="Cambria"/>
                <a:ea typeface="Cambria"/>
                <a:cs typeface="Cambria"/>
                <a:sym typeface="Cambria"/>
              </a:rPr>
              <a:t>’. </a:t>
            </a:r>
            <a:endParaRPr sz="1564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656"/>
              <a:buNone/>
            </a:pPr>
            <a:endParaRPr sz="167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22" name="Google Shape;222;g2d624313899_0_51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image8.png">
            <a:extLst>
              <a:ext uri="{FF2B5EF4-FFF2-40B4-BE49-F238E27FC236}">
                <a16:creationId xmlns:a16="http://schemas.microsoft.com/office/drawing/2014/main" id="{E481D2AD-B02B-44A6-8D70-921B2CA394D4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466506" y="3674580"/>
            <a:ext cx="4144010" cy="2828290"/>
          </a:xfrm>
          <a:prstGeom prst="rect">
            <a:avLst/>
          </a:prstGeom>
          <a:ln/>
        </p:spPr>
      </p:pic>
      <p:pic>
        <p:nvPicPr>
          <p:cNvPr id="8" name="image22.png">
            <a:extLst>
              <a:ext uri="{FF2B5EF4-FFF2-40B4-BE49-F238E27FC236}">
                <a16:creationId xmlns:a16="http://schemas.microsoft.com/office/drawing/2014/main" id="{AADC3830-9F36-4B0B-AAF9-EB9750D45704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4740234" y="3657435"/>
            <a:ext cx="4201160" cy="2845435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d624313899_0_9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39" name="Google Shape;239;g2d624313899_0_95"/>
          <p:cNvSpPr txBox="1">
            <a:spLocks noGrp="1"/>
          </p:cNvSpPr>
          <p:nvPr>
            <p:ph type="body" idx="1"/>
          </p:nvPr>
        </p:nvSpPr>
        <p:spPr>
          <a:xfrm>
            <a:off x="581192" y="778872"/>
            <a:ext cx="4178100" cy="37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 dirty="0">
                <a:latin typeface="Cambria"/>
                <a:ea typeface="Cambria"/>
                <a:cs typeface="Cambria"/>
                <a:sym typeface="Cambria"/>
              </a:rPr>
              <a:t>Modelo del Proyecto</a:t>
            </a:r>
            <a:endParaRPr sz="1564" b="1" dirty="0">
              <a:latin typeface="Cambria"/>
              <a:ea typeface="Cambria"/>
              <a:cs typeface="Cambria"/>
              <a:sym typeface="Cambria"/>
            </a:endParaRPr>
          </a:p>
          <a:p>
            <a:pPr marL="129241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65"/>
              <a:buNone/>
            </a:pPr>
            <a:r>
              <a:rPr lang="es-MX" sz="1564" b="1" dirty="0">
                <a:latin typeface="Cambria"/>
                <a:ea typeface="Cambria"/>
                <a:cs typeface="Cambria"/>
                <a:sym typeface="Cambria"/>
              </a:rPr>
              <a:t>Se crea la clase </a:t>
            </a:r>
            <a:r>
              <a:rPr lang="es-MX" sz="1564" b="1" dirty="0" err="1">
                <a:latin typeface="Cambria"/>
                <a:ea typeface="Cambria"/>
                <a:cs typeface="Cambria"/>
                <a:sym typeface="Cambria"/>
              </a:rPr>
              <a:t>CatalogoUnidades</a:t>
            </a:r>
            <a:r>
              <a:rPr lang="es-MX" sz="1564" b="1" dirty="0">
                <a:latin typeface="Cambria"/>
                <a:ea typeface="Cambria"/>
                <a:cs typeface="Cambria"/>
                <a:sym typeface="Cambria"/>
              </a:rPr>
              <a:t> dentro del paquete modelo para gestionar paramétricamente los tipos de unidades de medida disponibles</a:t>
            </a:r>
            <a:endParaRPr lang="es-MX" sz="167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40" name="Google Shape;240;g2d624313899_0_9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g2d624313899_0_95"/>
          <p:cNvSpPr txBox="1">
            <a:spLocks noGrp="1"/>
          </p:cNvSpPr>
          <p:nvPr>
            <p:ph type="body" idx="1"/>
          </p:nvPr>
        </p:nvSpPr>
        <p:spPr>
          <a:xfrm>
            <a:off x="4759292" y="429407"/>
            <a:ext cx="4178100" cy="37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endParaRPr sz="1564" b="1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99"/>
              <a:buFont typeface="Arial"/>
              <a:buNone/>
            </a:pPr>
            <a:r>
              <a:rPr lang="es-ES" sz="1564" b="1" dirty="0">
                <a:latin typeface="Cambria"/>
                <a:ea typeface="Cambria"/>
                <a:cs typeface="Cambria"/>
                <a:sym typeface="Cambria"/>
              </a:rPr>
              <a:t>Controlador del Proyecto</a:t>
            </a:r>
            <a:endParaRPr sz="1564" b="1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564" b="1" dirty="0">
                <a:latin typeface="Cambria"/>
                <a:ea typeface="Cambria"/>
                <a:cs typeface="Cambria"/>
                <a:sym typeface="Cambria"/>
              </a:rPr>
              <a:t>Se utilizó la clase nativa </a:t>
            </a:r>
            <a:r>
              <a:rPr lang="es-MX" sz="1564" b="1" dirty="0" err="1">
                <a:latin typeface="Cambria"/>
                <a:ea typeface="Cambria"/>
                <a:cs typeface="Cambria"/>
                <a:sym typeface="Cambria"/>
              </a:rPr>
              <a:t>HttpClient</a:t>
            </a:r>
            <a:r>
              <a:rPr lang="es-MX" sz="1564" b="1" dirty="0">
                <a:latin typeface="Cambria"/>
                <a:ea typeface="Cambria"/>
                <a:cs typeface="Cambria"/>
                <a:sym typeface="Cambria"/>
              </a:rPr>
              <a:t> de Java para estructurar y ejecutar las peticiones HTTP hacia los </a:t>
            </a:r>
            <a:r>
              <a:rPr lang="es-MX" sz="1564" b="1" dirty="0" err="1">
                <a:latin typeface="Cambria"/>
                <a:ea typeface="Cambria"/>
                <a:cs typeface="Cambria"/>
                <a:sym typeface="Cambria"/>
              </a:rPr>
              <a:t>endpoints</a:t>
            </a:r>
            <a:r>
              <a:rPr lang="es-MX" sz="1564" b="1" dirty="0">
                <a:latin typeface="Cambria"/>
                <a:ea typeface="Cambria"/>
                <a:cs typeface="Cambria"/>
                <a:sym typeface="Cambria"/>
              </a:rPr>
              <a:t> del servidor.</a:t>
            </a:r>
            <a:endParaRPr sz="1564" b="1"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60D6DAE-7B2E-4DD1-BDFA-3477B65BA3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3" y="3930293"/>
            <a:ext cx="2955257" cy="1850488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D52113FC-4457-4D65-B7D7-357285D319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641" y="3335501"/>
            <a:ext cx="4770904" cy="330901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d624313899_0_11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49" name="Google Shape;249;g2d624313899_0_111"/>
          <p:cNvSpPr txBox="1">
            <a:spLocks noGrp="1"/>
          </p:cNvSpPr>
          <p:nvPr>
            <p:ph type="body" idx="1"/>
          </p:nvPr>
        </p:nvSpPr>
        <p:spPr>
          <a:xfrm>
            <a:off x="478225" y="1986150"/>
            <a:ext cx="4178100" cy="37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 dirty="0">
                <a:latin typeface="Cambria"/>
                <a:ea typeface="Cambria"/>
                <a:cs typeface="Cambria"/>
                <a:sym typeface="Cambria"/>
              </a:rPr>
              <a:t>Vista del Proyecto</a:t>
            </a:r>
            <a:endParaRPr sz="1564" b="1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656"/>
              <a:buNone/>
            </a:pPr>
            <a:r>
              <a:rPr lang="es-MX" sz="1564" b="1" dirty="0">
                <a:latin typeface="Cambria"/>
                <a:ea typeface="Cambria"/>
                <a:cs typeface="Cambria"/>
                <a:sym typeface="Cambria"/>
              </a:rPr>
              <a:t>En la capa de interacción, dentro del paquete vista, se implementan las clases </a:t>
            </a:r>
            <a:r>
              <a:rPr lang="es-MX" sz="1564" b="1" dirty="0" err="1">
                <a:latin typeface="Cambria"/>
                <a:ea typeface="Cambria"/>
                <a:cs typeface="Cambria"/>
                <a:sym typeface="Cambria"/>
              </a:rPr>
              <a:t>InterfazConsola</a:t>
            </a:r>
            <a:r>
              <a:rPr lang="es-MX" sz="1564" b="1" dirty="0">
                <a:latin typeface="Cambria"/>
                <a:ea typeface="Cambria"/>
                <a:cs typeface="Cambria"/>
                <a:sym typeface="Cambria"/>
              </a:rPr>
              <a:t> y el enumerador </a:t>
            </a:r>
            <a:r>
              <a:rPr lang="es-MX" sz="1564" b="1" dirty="0" err="1">
                <a:latin typeface="Cambria"/>
                <a:ea typeface="Cambria"/>
                <a:cs typeface="Cambria"/>
                <a:sym typeface="Cambria"/>
              </a:rPr>
              <a:t>OpcionMenu</a:t>
            </a:r>
            <a:r>
              <a:rPr lang="es-MX" sz="1564" b="1" dirty="0">
                <a:latin typeface="Cambria"/>
                <a:ea typeface="Cambria"/>
                <a:cs typeface="Cambria"/>
                <a:sym typeface="Cambria"/>
              </a:rPr>
              <a:t>. </a:t>
            </a:r>
            <a:endParaRPr lang="es-MX" sz="1670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50" name="Google Shape;250;g2d624313899_0_111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FC07DC6-C9F5-45D0-971B-30ED654F1A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1215" y="2617179"/>
            <a:ext cx="4878473" cy="260924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d624313899_0_138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57" name="Google Shape;257;g2d624313899_0_138"/>
          <p:cNvSpPr txBox="1">
            <a:spLocks noGrp="1"/>
          </p:cNvSpPr>
          <p:nvPr>
            <p:ph type="body" idx="1"/>
          </p:nvPr>
        </p:nvSpPr>
        <p:spPr>
          <a:xfrm>
            <a:off x="581200" y="702138"/>
            <a:ext cx="4178100" cy="37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Ejecución del Proyecto</a:t>
            </a:r>
            <a:endParaRPr sz="1564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656"/>
              <a:buNone/>
            </a:pPr>
            <a:endParaRPr sz="1564"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58" name="Google Shape;258;g2d624313899_0_138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" name="image16.png">
            <a:extLst>
              <a:ext uri="{FF2B5EF4-FFF2-40B4-BE49-F238E27FC236}">
                <a16:creationId xmlns:a16="http://schemas.microsoft.com/office/drawing/2014/main" id="{FDC047A1-8147-471E-A1A5-BE791B7D7DA6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3227647" y="1933668"/>
            <a:ext cx="2868295" cy="803275"/>
          </a:xfrm>
          <a:prstGeom prst="rect">
            <a:avLst/>
          </a:prstGeom>
          <a:ln/>
        </p:spPr>
      </p:pic>
      <p:pic>
        <p:nvPicPr>
          <p:cNvPr id="10" name="image33.png">
            <a:extLst>
              <a:ext uri="{FF2B5EF4-FFF2-40B4-BE49-F238E27FC236}">
                <a16:creationId xmlns:a16="http://schemas.microsoft.com/office/drawing/2014/main" id="{4AC94074-97F6-4613-A0DD-F4EF075B8E98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311657" y="3004463"/>
            <a:ext cx="2808061" cy="2643675"/>
          </a:xfrm>
          <a:prstGeom prst="rect">
            <a:avLst/>
          </a:prstGeom>
          <a:ln/>
        </p:spPr>
      </p:pic>
      <p:pic>
        <p:nvPicPr>
          <p:cNvPr id="11" name="image47.png">
            <a:extLst>
              <a:ext uri="{FF2B5EF4-FFF2-40B4-BE49-F238E27FC236}">
                <a16:creationId xmlns:a16="http://schemas.microsoft.com/office/drawing/2014/main" id="{AE40CA26-5CE1-4635-A4AE-E153AE6B2FC9}"/>
              </a:ext>
            </a:extLst>
          </p:cNvPr>
          <p:cNvPicPr/>
          <p:nvPr/>
        </p:nvPicPr>
        <p:blipFill>
          <a:blip r:embed="rId5"/>
          <a:srcRect/>
          <a:stretch>
            <a:fillRect/>
          </a:stretch>
        </p:blipFill>
        <p:spPr>
          <a:xfrm>
            <a:off x="3227647" y="3004463"/>
            <a:ext cx="2808301" cy="2643675"/>
          </a:xfrm>
          <a:prstGeom prst="rect">
            <a:avLst/>
          </a:prstGeom>
          <a:ln/>
        </p:spPr>
      </p:pic>
      <p:pic>
        <p:nvPicPr>
          <p:cNvPr id="12" name="image15.png">
            <a:extLst>
              <a:ext uri="{FF2B5EF4-FFF2-40B4-BE49-F238E27FC236}">
                <a16:creationId xmlns:a16="http://schemas.microsoft.com/office/drawing/2014/main" id="{26DAED8E-2180-4ECC-B457-80F01B8AA7C0}"/>
              </a:ext>
            </a:extLst>
          </p:cNvPr>
          <p:cNvPicPr/>
          <p:nvPr/>
        </p:nvPicPr>
        <p:blipFill>
          <a:blip r:embed="rId6"/>
          <a:srcRect b="17680"/>
          <a:stretch>
            <a:fillRect/>
          </a:stretch>
        </p:blipFill>
        <p:spPr>
          <a:xfrm>
            <a:off x="6143877" y="3004463"/>
            <a:ext cx="2928407" cy="2643675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268" name="Google Shape;268;p27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7"/>
          <p:cNvSpPr txBox="1">
            <a:spLocks noGrp="1"/>
          </p:cNvSpPr>
          <p:nvPr>
            <p:ph type="body" idx="1"/>
          </p:nvPr>
        </p:nvSpPr>
        <p:spPr>
          <a:xfrm>
            <a:off x="581200" y="1902979"/>
            <a:ext cx="8589300" cy="11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118709"/>
              <a:buNone/>
            </a:pPr>
            <a:r>
              <a:rPr lang="es-ES" b="1" dirty="0">
                <a:latin typeface="Cambria"/>
                <a:ea typeface="Cambria"/>
                <a:cs typeface="Cambria"/>
                <a:sym typeface="Cambria"/>
              </a:rPr>
              <a:t>1.4 </a:t>
            </a:r>
            <a:r>
              <a:rPr lang="es-ES" sz="1800" b="1" dirty="0">
                <a:latin typeface="Cambria"/>
                <a:ea typeface="Cambria"/>
                <a:cs typeface="Cambria"/>
                <a:sym typeface="Cambria"/>
              </a:rPr>
              <a:t>	CREACIÓN DEL PROYECTO – CLIENTE </a:t>
            </a:r>
            <a:r>
              <a:rPr lang="es-ES" b="1" dirty="0">
                <a:latin typeface="Cambria"/>
                <a:ea typeface="Cambria"/>
                <a:cs typeface="Cambria"/>
                <a:sym typeface="Cambria"/>
              </a:rPr>
              <a:t>ESCRITORIO</a:t>
            </a:r>
            <a:br>
              <a:rPr lang="es-ES" sz="1800" b="1" dirty="0">
                <a:latin typeface="Cambria"/>
                <a:ea typeface="Cambria"/>
                <a:cs typeface="Cambria"/>
                <a:sym typeface="Cambria"/>
              </a:rPr>
            </a:br>
            <a:endParaRPr b="1" dirty="0"/>
          </a:p>
          <a:p>
            <a:pPr marL="457200" lvl="0" indent="-317981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91998"/>
              <a:buChar char="●"/>
            </a:pPr>
            <a:r>
              <a:rPr lang="es-MX" dirty="0">
                <a:latin typeface="Cambria"/>
                <a:ea typeface="Cambria"/>
                <a:cs typeface="Cambria"/>
                <a:sym typeface="Cambria"/>
              </a:rPr>
              <a:t>El proyecto se crea de igual manera que el cliente de consola Java </a:t>
            </a:r>
            <a:r>
              <a:rPr lang="es-MX" dirty="0" err="1">
                <a:latin typeface="Cambria"/>
                <a:ea typeface="Cambria"/>
                <a:cs typeface="Cambria"/>
                <a:sym typeface="Cambria"/>
              </a:rPr>
              <a:t>Application</a:t>
            </a:r>
            <a:endParaRPr lang="es-MX"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6" name="image8.png">
            <a:extLst>
              <a:ext uri="{FF2B5EF4-FFF2-40B4-BE49-F238E27FC236}">
                <a16:creationId xmlns:a16="http://schemas.microsoft.com/office/drawing/2014/main" id="{0E3249E6-53D8-43ED-B978-3E4B0E9D73F6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2544819" y="3270983"/>
            <a:ext cx="4144010" cy="2828290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1974b856cc_0_109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01" name="Google Shape;301;g31974b856cc_0_109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g31974b856cc_0_109"/>
          <p:cNvSpPr txBox="1">
            <a:spLocks noGrp="1"/>
          </p:cNvSpPr>
          <p:nvPr>
            <p:ph type="body" idx="1"/>
          </p:nvPr>
        </p:nvSpPr>
        <p:spPr>
          <a:xfrm>
            <a:off x="581200" y="1715856"/>
            <a:ext cx="8589300" cy="13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●"/>
            </a:pPr>
            <a:r>
              <a:rPr lang="es-MX" dirty="0">
                <a:latin typeface="Cambria"/>
                <a:ea typeface="Cambria"/>
                <a:cs typeface="Cambria"/>
                <a:sym typeface="Cambria"/>
              </a:rPr>
              <a:t>El cliente de escritorio con interfaz gráfica se estructuró bajo el patrón MVC. Se crearon los paquetes modelo, vista y controlador para separar el diseño visual de la lógica de consumo del servicio web.</a:t>
            </a:r>
            <a:endParaRPr lang="es-MX" sz="1800"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6" name="image14.png">
            <a:extLst>
              <a:ext uri="{FF2B5EF4-FFF2-40B4-BE49-F238E27FC236}">
                <a16:creationId xmlns:a16="http://schemas.microsoft.com/office/drawing/2014/main" id="{476A83D9-2A28-4174-9A6B-007610FFEE78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5088311" y="2609850"/>
            <a:ext cx="3019425" cy="1028700"/>
          </a:xfrm>
          <a:prstGeom prst="rect">
            <a:avLst/>
          </a:prstGeom>
          <a:ln/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04F47827-A8E1-4FFA-A232-83861B9D7BF5}"/>
              </a:ext>
            </a:extLst>
          </p:cNvPr>
          <p:cNvSpPr txBox="1"/>
          <p:nvPr/>
        </p:nvSpPr>
        <p:spPr>
          <a:xfrm>
            <a:off x="762109" y="3269217"/>
            <a:ext cx="1712150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s-MX" sz="1800" b="0" i="0" u="none" strike="noStrike" kern="0" cap="none" spc="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Cambria"/>
                <a:ea typeface="Cambria"/>
                <a:cs typeface="Cambria"/>
                <a:sym typeface="Cambria"/>
              </a:rPr>
              <a:t>El paquete modelo solo se manejan clases auxiliares y enumeradores</a:t>
            </a:r>
          </a:p>
          <a:p>
            <a:endParaRPr lang="es-EC" dirty="0"/>
          </a:p>
        </p:txBody>
      </p:sp>
      <p:pic>
        <p:nvPicPr>
          <p:cNvPr id="13" name="image3.png">
            <a:extLst>
              <a:ext uri="{FF2B5EF4-FFF2-40B4-BE49-F238E27FC236}">
                <a16:creationId xmlns:a16="http://schemas.microsoft.com/office/drawing/2014/main" id="{30815916-71A2-41C6-91F1-15E08409BD0E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2611811" y="3836431"/>
            <a:ext cx="2476500" cy="342900"/>
          </a:xfrm>
          <a:prstGeom prst="rect">
            <a:avLst/>
          </a:prstGeom>
          <a:ln/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4AE216B3-B851-4BA3-899E-396EB3A18BA2}"/>
              </a:ext>
            </a:extLst>
          </p:cNvPr>
          <p:cNvSpPr txBox="1"/>
          <p:nvPr/>
        </p:nvSpPr>
        <p:spPr>
          <a:xfrm>
            <a:off x="6214191" y="4553152"/>
            <a:ext cx="263338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s-MX" sz="1800" b="0" i="0" u="none" strike="noStrike" kern="0" cap="none" spc="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Cambria"/>
                <a:ea typeface="Cambria"/>
                <a:cs typeface="Cambria"/>
                <a:sym typeface="Cambria"/>
              </a:rPr>
              <a:t>En el paquete controlador se crearon las clases que capturan los datos ingresados en las ventanas y el </a:t>
            </a:r>
            <a:r>
              <a:rPr kumimoji="0" lang="es-MX" sz="1800" b="0" i="0" u="none" strike="noStrike" kern="0" cap="none" spc="0" normalizeH="0" baseline="0" noProof="0" dirty="0" err="1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Cambria"/>
                <a:ea typeface="Cambria"/>
                <a:cs typeface="Cambria"/>
                <a:sym typeface="Cambria"/>
              </a:rPr>
              <a:t>endpoint</a:t>
            </a:r>
            <a:r>
              <a:rPr kumimoji="0" lang="es-MX" sz="1800" b="0" i="0" u="none" strike="noStrike" kern="0" cap="none" spc="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Cambria"/>
                <a:ea typeface="Cambria"/>
                <a:cs typeface="Cambria"/>
                <a:sym typeface="Cambria"/>
              </a:rPr>
              <a:t> base</a:t>
            </a:r>
            <a:endParaRPr lang="es-EC" dirty="0"/>
          </a:p>
        </p:txBody>
      </p:sp>
      <p:pic>
        <p:nvPicPr>
          <p:cNvPr id="20" name="image24.png">
            <a:extLst>
              <a:ext uri="{FF2B5EF4-FFF2-40B4-BE49-F238E27FC236}">
                <a16:creationId xmlns:a16="http://schemas.microsoft.com/office/drawing/2014/main" id="{5B11FC56-51AA-41A2-9AF4-1F05A14F2B30}"/>
              </a:ext>
            </a:extLst>
          </p:cNvPr>
          <p:cNvPicPr/>
          <p:nvPr/>
        </p:nvPicPr>
        <p:blipFill>
          <a:blip r:embed="rId5"/>
          <a:srcRect/>
          <a:stretch>
            <a:fillRect/>
          </a:stretch>
        </p:blipFill>
        <p:spPr>
          <a:xfrm>
            <a:off x="5939008" y="3755967"/>
            <a:ext cx="2743200" cy="457200"/>
          </a:xfrm>
          <a:prstGeom prst="rect">
            <a:avLst/>
          </a:prstGeom>
          <a:ln/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F332A5D4-C9CC-4CC6-BD8D-075985F950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30109" y="4330584"/>
            <a:ext cx="3447701" cy="247389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1974b856cc_0_128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09" name="Google Shape;309;g31974b856cc_0_128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g31974b856cc_0_128"/>
          <p:cNvSpPr txBox="1">
            <a:spLocks noGrp="1"/>
          </p:cNvSpPr>
          <p:nvPr>
            <p:ph type="body" idx="1"/>
          </p:nvPr>
        </p:nvSpPr>
        <p:spPr>
          <a:xfrm>
            <a:off x="581200" y="1715856"/>
            <a:ext cx="8589300" cy="13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●"/>
            </a:pPr>
            <a:r>
              <a:rPr lang="es-EC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En el paquete vista se diseñaron las interfaces gráficas utilizando los formularios (</a:t>
            </a:r>
            <a:r>
              <a:rPr lang="es-EC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JFrames</a:t>
            </a:r>
            <a:r>
              <a:rPr lang="es-EC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) de NetBeans.</a:t>
            </a:r>
            <a:endParaRPr sz="1800"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C03548C-4879-49A7-99D2-2CA15756FB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248" y="2831802"/>
            <a:ext cx="8424537" cy="332404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1974b856cc_0_13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17" name="Google Shape;317;g31974b856cc_0_137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g31974b856cc_0_137"/>
          <p:cNvSpPr txBox="1">
            <a:spLocks noGrp="1"/>
          </p:cNvSpPr>
          <p:nvPr>
            <p:ph type="body" idx="1"/>
          </p:nvPr>
        </p:nvSpPr>
        <p:spPr>
          <a:xfrm>
            <a:off x="6326975" y="2523925"/>
            <a:ext cx="2808300" cy="36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375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●"/>
            </a:pPr>
            <a:r>
              <a:rPr lang="es-ES" dirty="0">
                <a:latin typeface="Cambria"/>
                <a:ea typeface="Cambria"/>
                <a:cs typeface="Cambria"/>
                <a:sym typeface="Cambria"/>
              </a:rPr>
              <a:t>Una vez que el servicio se ejecuta de forma paralela con el servidor</a:t>
            </a:r>
          </a:p>
          <a:p>
            <a:pPr marL="457200" lvl="0" indent="-33375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●"/>
            </a:pPr>
            <a:r>
              <a:rPr lang="es-ES" dirty="0">
                <a:latin typeface="Cambria"/>
                <a:ea typeface="Cambria"/>
                <a:cs typeface="Cambria"/>
                <a:sym typeface="Cambria"/>
              </a:rPr>
              <a:t>Se ingresan las credenciales válidas y al dar clic en Ingresar se presenta la pantalla de conversión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6" name="image9.png">
            <a:extLst>
              <a:ext uri="{FF2B5EF4-FFF2-40B4-BE49-F238E27FC236}">
                <a16:creationId xmlns:a16="http://schemas.microsoft.com/office/drawing/2014/main" id="{C3B60F47-85DF-433D-9661-8B43DD4D2AB6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581192" y="2329030"/>
            <a:ext cx="5218973" cy="3336664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2d6d00c5bd2_2_19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35" name="Google Shape;335;g2d6d00c5bd2_2_19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g2d6d00c5bd2_2_19"/>
          <p:cNvSpPr txBox="1">
            <a:spLocks noGrp="1"/>
          </p:cNvSpPr>
          <p:nvPr>
            <p:ph type="body" idx="1"/>
          </p:nvPr>
        </p:nvSpPr>
        <p:spPr>
          <a:xfrm>
            <a:off x="5791950" y="2411875"/>
            <a:ext cx="3228900" cy="36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375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●"/>
            </a:pPr>
            <a:r>
              <a:rPr lang="es-ES" dirty="0">
                <a:latin typeface="Cambria"/>
                <a:ea typeface="Cambria"/>
                <a:cs typeface="Cambria"/>
                <a:sym typeface="Cambria"/>
              </a:rPr>
              <a:t>En esta pantalla se presentan los tipos de unidades disponibles para conversión y las unidades de origen y destino.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6" name="image2.png">
            <a:extLst>
              <a:ext uri="{FF2B5EF4-FFF2-40B4-BE49-F238E27FC236}">
                <a16:creationId xmlns:a16="http://schemas.microsoft.com/office/drawing/2014/main" id="{5CDAE7E6-9ED3-4D97-82FC-F7BE927514A6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1131103" y="2513572"/>
            <a:ext cx="3898097" cy="3116263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2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43" name="Google Shape;343;p32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32"/>
          <p:cNvSpPr txBox="1"/>
          <p:nvPr/>
        </p:nvSpPr>
        <p:spPr>
          <a:xfrm>
            <a:off x="636600" y="1868348"/>
            <a:ext cx="8576700" cy="18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s-ES" sz="1800" b="1" i="0" u="none" strike="noStrike" cap="none" dirty="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1.5 	CREACIÓN DEL PROYECTO – CLIENTE WEB</a:t>
            </a:r>
            <a:br>
              <a:rPr lang="es-ES" sz="1800" b="1" i="0" u="none" strike="noStrike" cap="none" dirty="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</a:br>
            <a:endParaRPr sz="2000" b="0" i="0" u="none" strike="noStrike" cap="none" dirty="0">
              <a:solidFill>
                <a:srgbClr val="3D3D3D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07975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ct val="100000"/>
              <a:buFont typeface="Cambria"/>
              <a:buChar char="∙"/>
            </a:pPr>
            <a:r>
              <a:rPr lang="es-MX" sz="2000" dirty="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El proyecto se crea de igual manera que el </a:t>
            </a:r>
            <a:r>
              <a:rPr lang="es-MX" sz="2000" dirty="0" err="1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servidorcon</a:t>
            </a:r>
            <a:r>
              <a:rPr lang="es-MX" sz="2000" dirty="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 ‘Web </a:t>
            </a:r>
            <a:r>
              <a:rPr lang="es-MX" sz="2000" dirty="0" err="1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Application</a:t>
            </a:r>
            <a:r>
              <a:rPr lang="es-MX" sz="2000" dirty="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’</a:t>
            </a:r>
            <a:endParaRPr sz="2000" dirty="0">
              <a:solidFill>
                <a:srgbClr val="3D3D3D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07975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ct val="100000"/>
              <a:buFont typeface="Cambria"/>
              <a:buChar char="∙"/>
            </a:pPr>
            <a:r>
              <a:rPr lang="es-MX" sz="2000" dirty="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El cliente web se desarrolló siguiendo el patrón MVC utilizando </a:t>
            </a:r>
            <a:r>
              <a:rPr lang="es-MX" sz="2000" dirty="0" err="1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Servlets</a:t>
            </a:r>
            <a:r>
              <a:rPr lang="es-MX" sz="2000" dirty="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 y </a:t>
            </a:r>
            <a:r>
              <a:rPr lang="es-MX" sz="2000" dirty="0" err="1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JavaServer</a:t>
            </a:r>
            <a:r>
              <a:rPr lang="es-MX" sz="2000" dirty="0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 Pages (JSP).</a:t>
            </a:r>
            <a:endParaRPr sz="2000" dirty="0">
              <a:solidFill>
                <a:srgbClr val="3D3D3D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7" name="image1.png">
            <a:extLst>
              <a:ext uri="{FF2B5EF4-FFF2-40B4-BE49-F238E27FC236}">
                <a16:creationId xmlns:a16="http://schemas.microsoft.com/office/drawing/2014/main" id="{E8041391-6774-46D9-A527-1951339A5652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6928204" y="3321441"/>
            <a:ext cx="2095500" cy="561975"/>
          </a:xfrm>
          <a:prstGeom prst="rect">
            <a:avLst/>
          </a:prstGeom>
          <a:ln/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ADA1A54F-FE84-454F-A1AB-CC983C9939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6401" y="3883416"/>
            <a:ext cx="5943600" cy="268700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19782968e5_0_88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77" name="Google Shape;377;g319782968e5_0_88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g319782968e5_0_88"/>
          <p:cNvSpPr txBox="1">
            <a:spLocks noGrp="1"/>
          </p:cNvSpPr>
          <p:nvPr>
            <p:ph type="body" idx="1"/>
          </p:nvPr>
        </p:nvSpPr>
        <p:spPr>
          <a:xfrm>
            <a:off x="581200" y="1944456"/>
            <a:ext cx="8589300" cy="13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375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●"/>
            </a:pPr>
            <a:r>
              <a:rPr lang="es-EC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Las interfaces de usuario se construyeron utilizando HTML y la tecnología JSP (</a:t>
            </a:r>
            <a:r>
              <a:rPr lang="es-EC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JavaServer</a:t>
            </a:r>
            <a:r>
              <a:rPr lang="es-EC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Pages) dentro del directorio Web Pages.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B0929D5-896F-4CA6-830A-0274B730C1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168" y="3132944"/>
            <a:ext cx="1448002" cy="90500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387BBA9A-92D8-4E29-8BA7-B7722C5FFA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9277" y="3132944"/>
            <a:ext cx="3959600" cy="3545395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7EBFFD51-1503-4BCA-8CB9-C70596A06975}"/>
              </a:ext>
            </a:extLst>
          </p:cNvPr>
          <p:cNvSpPr txBox="1"/>
          <p:nvPr/>
        </p:nvSpPr>
        <p:spPr>
          <a:xfrm>
            <a:off x="719417" y="4185628"/>
            <a:ext cx="262441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s-EC" sz="1800" b="0" i="0" u="none" strike="noStrike" kern="0" cap="none" spc="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sym typeface="Gill Sans"/>
              </a:rPr>
              <a:t>El conversor </a:t>
            </a:r>
            <a:r>
              <a:rPr kumimoji="0" lang="es-MX" sz="1800" b="0" i="0" u="none" strike="noStrike" kern="0" cap="none" spc="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sym typeface="Gill Sans"/>
              </a:rPr>
              <a:t>contiene los formularios dinámicos para seleccionar las unidades de medida, capturar los valores y mostrar los resultados procesados por el </a:t>
            </a:r>
            <a:r>
              <a:rPr kumimoji="0" lang="es-MX" sz="1800" b="0" i="0" u="none" strike="noStrike" kern="0" cap="none" spc="0" normalizeH="0" baseline="0" noProof="0" dirty="0" err="1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sym typeface="Gill Sans"/>
              </a:rPr>
              <a:t>ConversorServlet</a:t>
            </a:r>
            <a:r>
              <a:rPr kumimoji="0" lang="es-MX" sz="1800" b="0" i="0" u="none" strike="noStrike" kern="0" cap="none" spc="0" normalizeH="0" baseline="0" noProof="0" dirty="0">
                <a:ln>
                  <a:noFill/>
                </a:ln>
                <a:solidFill>
                  <a:srgbClr val="3D3D3D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sym typeface="Gill Sans"/>
              </a:rPr>
              <a:t>.</a:t>
            </a:r>
            <a:endParaRPr lang="es-EC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19782968e5_0_7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385" name="Google Shape;385;g319782968e5_0_73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g319782968e5_0_73"/>
          <p:cNvSpPr txBox="1">
            <a:spLocks noGrp="1"/>
          </p:cNvSpPr>
          <p:nvPr>
            <p:ph type="body" idx="1"/>
          </p:nvPr>
        </p:nvSpPr>
        <p:spPr>
          <a:xfrm>
            <a:off x="581200" y="1715856"/>
            <a:ext cx="8589300" cy="13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marR="0" lvl="0" indent="-34290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Noto Sans Symbols"/>
              <a:buChar char="●"/>
            </a:pPr>
            <a:r>
              <a:rPr lang="es-ES" dirty="0">
                <a:latin typeface="Cambria"/>
                <a:ea typeface="Cambria"/>
                <a:cs typeface="Cambria"/>
                <a:sym typeface="Cambria"/>
              </a:rPr>
              <a:t>El </a:t>
            </a:r>
            <a:r>
              <a:rPr lang="es-MX" dirty="0" err="1">
                <a:latin typeface="Cambria"/>
                <a:ea typeface="Cambria"/>
                <a:cs typeface="Cambria"/>
                <a:sym typeface="Cambria"/>
              </a:rPr>
              <a:t>index.jsp</a:t>
            </a:r>
            <a:r>
              <a:rPr lang="es-MX" dirty="0">
                <a:latin typeface="Cambria"/>
                <a:ea typeface="Cambria"/>
                <a:cs typeface="Cambria"/>
                <a:sym typeface="Cambria"/>
              </a:rPr>
              <a:t> actúa como la pantalla de inicio de sesión interactuando con el </a:t>
            </a:r>
            <a:r>
              <a:rPr lang="es-MX" dirty="0" err="1">
                <a:latin typeface="Cambria"/>
                <a:ea typeface="Cambria"/>
                <a:cs typeface="Cambria"/>
                <a:sym typeface="Cambria"/>
              </a:rPr>
              <a:t>LoginServlet</a:t>
            </a:r>
            <a:r>
              <a:rPr lang="es-MX" dirty="0">
                <a:latin typeface="Cambria"/>
                <a:ea typeface="Cambria"/>
                <a:cs typeface="Cambria"/>
                <a:sym typeface="Cambria"/>
              </a:rPr>
              <a:t>, y </a:t>
            </a:r>
            <a:r>
              <a:rPr lang="es-MX" dirty="0" err="1">
                <a:latin typeface="Cambria"/>
                <a:ea typeface="Cambria"/>
                <a:cs typeface="Cambria"/>
                <a:sym typeface="Cambria"/>
              </a:rPr>
              <a:t>conversor.jsp</a:t>
            </a:r>
            <a:endParaRPr sz="1800"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2AB2C40-BE92-4997-8D54-902AE1FE5C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4070" y="2850777"/>
            <a:ext cx="4143559" cy="370870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19782968e5_0_112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401" name="Google Shape;401;g319782968e5_0_112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g319782968e5_0_112"/>
          <p:cNvSpPr txBox="1">
            <a:spLocks noGrp="1"/>
          </p:cNvSpPr>
          <p:nvPr>
            <p:ph type="body" idx="1"/>
          </p:nvPr>
        </p:nvSpPr>
        <p:spPr>
          <a:xfrm>
            <a:off x="1039100" y="1913200"/>
            <a:ext cx="8038500" cy="18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375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Cambria"/>
              <a:buChar char="●"/>
            </a:pPr>
            <a:r>
              <a:rPr lang="es-ES" dirty="0">
                <a:latin typeface="Cambria"/>
                <a:ea typeface="Cambria"/>
                <a:cs typeface="Cambria"/>
                <a:sym typeface="Cambria"/>
              </a:rPr>
              <a:t>Para ejecutar el proyecto, se debe ejecutar el servidor y el cliente se ejecuta mediante la opción Run de </a:t>
            </a:r>
            <a:r>
              <a:rPr lang="es-ES" dirty="0" err="1">
                <a:latin typeface="Cambria"/>
                <a:ea typeface="Cambria"/>
                <a:cs typeface="Cambria"/>
                <a:sym typeface="Cambria"/>
              </a:rPr>
              <a:t>netbeans</a:t>
            </a:r>
            <a:r>
              <a:rPr lang="es-ES" dirty="0">
                <a:latin typeface="Cambria"/>
                <a:ea typeface="Cambria"/>
                <a:cs typeface="Cambria"/>
                <a:sym typeface="Cambria"/>
              </a:rPr>
              <a:t>.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697E69C-8413-4674-83CC-3905BFA0D3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268" y="3257334"/>
            <a:ext cx="3200847" cy="308653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19782968e5_0_135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411" name="Google Shape;411;g319782968e5_0_135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g319782968e5_0_135"/>
          <p:cNvSpPr txBox="1">
            <a:spLocks noGrp="1"/>
          </p:cNvSpPr>
          <p:nvPr>
            <p:ph type="body" idx="1"/>
          </p:nvPr>
        </p:nvSpPr>
        <p:spPr>
          <a:xfrm>
            <a:off x="6326975" y="2523925"/>
            <a:ext cx="2808300" cy="36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375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Font typeface="Cambria"/>
              <a:buChar char="●"/>
            </a:pPr>
            <a:r>
              <a:rPr lang="es-ES" dirty="0">
                <a:latin typeface="Cambria"/>
                <a:ea typeface="Cambria"/>
                <a:cs typeface="Cambria"/>
                <a:sym typeface="Cambria"/>
              </a:rPr>
              <a:t>Se ingresan las credenciales válidas y al dar clic en Ingresar se presenta la segunda pantalla de conversión de unidades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6" name="image30.png">
            <a:extLst>
              <a:ext uri="{FF2B5EF4-FFF2-40B4-BE49-F238E27FC236}">
                <a16:creationId xmlns:a16="http://schemas.microsoft.com/office/drawing/2014/main" id="{B8522D55-BF99-41EF-AE29-5C343DCA54F6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803359" y="2804085"/>
            <a:ext cx="5399405" cy="2755900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19782968e5_0_12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419" name="Google Shape;419;g319782968e5_0_123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g319782968e5_0_123"/>
          <p:cNvSpPr txBox="1">
            <a:spLocks noGrp="1"/>
          </p:cNvSpPr>
          <p:nvPr>
            <p:ph type="body" idx="1"/>
          </p:nvPr>
        </p:nvSpPr>
        <p:spPr>
          <a:xfrm>
            <a:off x="581200" y="2523925"/>
            <a:ext cx="2808300" cy="36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3375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Char char="●"/>
            </a:pPr>
            <a:r>
              <a:rPr lang="es-ES" dirty="0">
                <a:latin typeface="Cambria"/>
                <a:ea typeface="Cambria"/>
                <a:cs typeface="Cambria"/>
                <a:sym typeface="Cambria"/>
              </a:rPr>
              <a:t>Se debe ingresar el valor a convertir, el tipo de conversión y las unidades de origen y destino.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6" name="image50.png">
            <a:extLst>
              <a:ext uri="{FF2B5EF4-FFF2-40B4-BE49-F238E27FC236}">
                <a16:creationId xmlns:a16="http://schemas.microsoft.com/office/drawing/2014/main" id="{AE0CAEED-5DCD-42C2-8B00-C683C2C4B6B6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3686896" y="2718547"/>
            <a:ext cx="5399405" cy="2819400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427" name="Google Shape;427;p37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37"/>
          <p:cNvSpPr txBox="1"/>
          <p:nvPr/>
        </p:nvSpPr>
        <p:spPr>
          <a:xfrm>
            <a:off x="406975" y="1921878"/>
            <a:ext cx="8576700" cy="7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1" i="0" u="none" strike="noStrike" cap="none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  <a:t>1.6 	CREACIÓN DEL PROYECTO – CLIENTE MÓVIL</a:t>
            </a:r>
            <a:br>
              <a:rPr lang="es-ES" sz="1800" b="1" i="0" u="none" strike="noStrike" cap="none">
                <a:solidFill>
                  <a:srgbClr val="3D3D3D"/>
                </a:solidFill>
                <a:latin typeface="Cambria"/>
                <a:ea typeface="Cambria"/>
                <a:cs typeface="Cambria"/>
                <a:sym typeface="Cambria"/>
              </a:rPr>
            </a:br>
            <a:endParaRPr sz="1800" b="0" i="0" u="none" strike="noStrike" cap="none">
              <a:solidFill>
                <a:srgbClr val="3D3D3D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29" name="Google Shape;429;p37"/>
          <p:cNvSpPr txBox="1">
            <a:spLocks noGrp="1"/>
          </p:cNvSpPr>
          <p:nvPr>
            <p:ph type="body" idx="1"/>
          </p:nvPr>
        </p:nvSpPr>
        <p:spPr>
          <a:xfrm>
            <a:off x="581200" y="2253923"/>
            <a:ext cx="4178100" cy="3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endParaRPr sz="1564" b="1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Creación del Proyecto</a:t>
            </a:r>
            <a:endParaRPr sz="1564" b="1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564">
                <a:latin typeface="Cambria"/>
                <a:ea typeface="Cambria"/>
                <a:cs typeface="Cambria"/>
                <a:sym typeface="Cambria"/>
              </a:rPr>
              <a:t>Inicia Android Studio → Nuevo Proyecto.</a:t>
            </a:r>
            <a:endParaRPr sz="1564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564">
                <a:latin typeface="Cambria"/>
                <a:ea typeface="Cambria"/>
                <a:cs typeface="Cambria"/>
                <a:sym typeface="Cambria"/>
              </a:rPr>
              <a:t>Selecciona "Empty Activity".</a:t>
            </a:r>
            <a:endParaRPr sz="1564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564">
                <a:latin typeface="Cambria"/>
                <a:ea typeface="Cambria"/>
                <a:cs typeface="Cambria"/>
                <a:sym typeface="Cambria"/>
              </a:rPr>
              <a:t>Lenguaje: Kotlin, API más reciente.</a:t>
            </a:r>
            <a:endParaRPr sz="1564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564">
                <a:latin typeface="Cambria"/>
                <a:ea typeface="Cambria"/>
                <a:cs typeface="Cambria"/>
                <a:sym typeface="Cambria"/>
              </a:rPr>
              <a:t>Agrega la dependencia OkHttp en build.gradle</a:t>
            </a:r>
            <a:endParaRPr sz="1564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656"/>
              <a:buNone/>
            </a:pPr>
            <a:endParaRPr sz="1564" b="1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430" name="Google Shape;430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18749" y="2402189"/>
            <a:ext cx="1606875" cy="169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3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10937" y="4209124"/>
            <a:ext cx="3622500" cy="191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3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04275" y="5528800"/>
            <a:ext cx="4335775" cy="59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2d624313899_0_157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438" name="Google Shape;438;g2d624313899_0_157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g2d624313899_0_157"/>
          <p:cNvSpPr txBox="1">
            <a:spLocks noGrp="1"/>
          </p:cNvSpPr>
          <p:nvPr>
            <p:ph type="body" idx="1"/>
          </p:nvPr>
        </p:nvSpPr>
        <p:spPr>
          <a:xfrm>
            <a:off x="581200" y="2253925"/>
            <a:ext cx="3644100" cy="3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4467"/>
              <a:buNone/>
            </a:pPr>
            <a:r>
              <a:rPr lang="es-ES" sz="1564" b="1" dirty="0">
                <a:latin typeface="Cambria"/>
                <a:ea typeface="Cambria"/>
                <a:cs typeface="Cambria"/>
                <a:sym typeface="Cambria"/>
              </a:rPr>
              <a:t>Estructura del Proyecto (MVC)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14467"/>
              <a:buNone/>
            </a:pPr>
            <a:r>
              <a:rPr lang="es-MX" sz="1564" dirty="0">
                <a:latin typeface="Cambria"/>
                <a:ea typeface="Cambria"/>
                <a:cs typeface="Cambria"/>
                <a:sym typeface="Cambria"/>
              </a:rPr>
              <a:t>Para asegurar el desacoplamiento de la lógica, la vista y el consumo de red, se estructuró el proyecto en los paquetes </a:t>
            </a:r>
            <a:r>
              <a:rPr lang="es-MX" sz="1564" dirty="0" err="1">
                <a:latin typeface="Cambria"/>
                <a:ea typeface="Cambria"/>
                <a:cs typeface="Cambria"/>
                <a:sym typeface="Cambria"/>
              </a:rPr>
              <a:t>model</a:t>
            </a:r>
            <a:r>
              <a:rPr lang="es-MX" sz="1564" dirty="0"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lang="es-MX" sz="1564" dirty="0" err="1">
                <a:latin typeface="Cambria"/>
                <a:ea typeface="Cambria"/>
                <a:cs typeface="Cambria"/>
                <a:sym typeface="Cambria"/>
              </a:rPr>
              <a:t>view</a:t>
            </a:r>
            <a:r>
              <a:rPr lang="es-MX" sz="1564" dirty="0">
                <a:latin typeface="Cambria"/>
                <a:ea typeface="Cambria"/>
                <a:cs typeface="Cambria"/>
                <a:sym typeface="Cambria"/>
              </a:rPr>
              <a:t> y </a:t>
            </a:r>
            <a:r>
              <a:rPr lang="es-MX" sz="1564" dirty="0" err="1">
                <a:latin typeface="Cambria"/>
                <a:ea typeface="Cambria"/>
                <a:cs typeface="Cambria"/>
                <a:sym typeface="Cambria"/>
              </a:rPr>
              <a:t>controller</a:t>
            </a:r>
            <a:r>
              <a:rPr lang="es-MX" sz="1564" dirty="0">
                <a:latin typeface="Cambria"/>
                <a:ea typeface="Cambria"/>
                <a:cs typeface="Cambria"/>
                <a:sym typeface="Cambria"/>
              </a:rPr>
              <a:t>.</a:t>
            </a:r>
            <a:endParaRPr lang="es-EC" sz="1564"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6" name="image39.png">
            <a:extLst>
              <a:ext uri="{FF2B5EF4-FFF2-40B4-BE49-F238E27FC236}">
                <a16:creationId xmlns:a16="http://schemas.microsoft.com/office/drawing/2014/main" id="{189BDC2A-4F34-4A33-915E-38B94879E2F8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4741537" y="2559253"/>
            <a:ext cx="3225165" cy="3159760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2d624313899_0_172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446" name="Google Shape;446;g2d624313899_0_172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g2d624313899_0_172"/>
          <p:cNvSpPr txBox="1">
            <a:spLocks noGrp="1"/>
          </p:cNvSpPr>
          <p:nvPr>
            <p:ph type="body" idx="1"/>
          </p:nvPr>
        </p:nvSpPr>
        <p:spPr>
          <a:xfrm>
            <a:off x="491075" y="1294250"/>
            <a:ext cx="3888600" cy="3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endParaRPr sz="1564" b="1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 dirty="0">
                <a:latin typeface="Cambria"/>
                <a:ea typeface="Cambria"/>
                <a:cs typeface="Cambria"/>
                <a:sym typeface="Cambria"/>
              </a:rPr>
              <a:t>Modelo: </a:t>
            </a:r>
            <a:r>
              <a:rPr lang="es-ES" sz="1564" b="1" dirty="0" err="1">
                <a:latin typeface="Cambria"/>
                <a:ea typeface="Cambria"/>
                <a:cs typeface="Cambria"/>
                <a:sym typeface="Cambria"/>
              </a:rPr>
              <a:t>RestClient.kt</a:t>
            </a:r>
            <a:endParaRPr sz="1564" b="1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MX" sz="1564" dirty="0">
                <a:latin typeface="Cambria"/>
                <a:ea typeface="Cambria"/>
                <a:cs typeface="Cambria"/>
                <a:sym typeface="Cambria"/>
              </a:rPr>
              <a:t>Cliente REST que ejecuta las llamadas a los servicios web. </a:t>
            </a:r>
            <a:endParaRPr sz="1564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endParaRPr sz="1564" b="1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656"/>
              <a:buNone/>
            </a:pPr>
            <a:endParaRPr sz="1564" b="1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48" name="Google Shape;448;g2d624313899_0_172"/>
          <p:cNvSpPr txBox="1">
            <a:spLocks noGrp="1"/>
          </p:cNvSpPr>
          <p:nvPr>
            <p:ph type="body" idx="1"/>
          </p:nvPr>
        </p:nvSpPr>
        <p:spPr>
          <a:xfrm>
            <a:off x="5117582" y="1209006"/>
            <a:ext cx="3888600" cy="3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endParaRPr sz="1564" b="1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564" b="1" dirty="0">
                <a:latin typeface="Cambria"/>
                <a:ea typeface="Cambria"/>
                <a:cs typeface="Cambria"/>
                <a:sym typeface="Cambria"/>
              </a:rPr>
              <a:t>Controlador: </a:t>
            </a:r>
            <a:r>
              <a:rPr lang="es-ES" sz="1564" b="1" dirty="0" err="1">
                <a:latin typeface="Cambria"/>
                <a:ea typeface="Cambria"/>
                <a:cs typeface="Cambria"/>
                <a:sym typeface="Cambria"/>
              </a:rPr>
              <a:t>ConversionController.kt</a:t>
            </a:r>
            <a:endParaRPr sz="1564" b="1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564" dirty="0" err="1">
                <a:latin typeface="Cambria"/>
                <a:ea typeface="Cambria"/>
                <a:cs typeface="Cambria"/>
                <a:sym typeface="Cambria"/>
              </a:rPr>
              <a:t>Callback</a:t>
            </a:r>
            <a:r>
              <a:rPr lang="es-MX" sz="1564" dirty="0">
                <a:latin typeface="Cambria"/>
                <a:ea typeface="Cambria"/>
                <a:cs typeface="Cambria"/>
                <a:sym typeface="Cambria"/>
              </a:rPr>
              <a:t> para operaciones de conversión.</a:t>
            </a:r>
            <a:endParaRPr sz="1564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endParaRPr sz="1564" b="1" dirty="0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656"/>
              <a:buNone/>
            </a:pPr>
            <a:endParaRPr sz="1564" b="1"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6DC1D8E-6ACB-4C97-8953-86D061C48B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7582" y="3411758"/>
            <a:ext cx="3802710" cy="2848362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84C3C8ED-7E1D-4B00-AF2E-6447E05CD8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573" y="3411758"/>
            <a:ext cx="4523495" cy="2589903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2d624313899_0_193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456" name="Google Shape;456;g2d624313899_0_193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g2d624313899_0_193"/>
          <p:cNvSpPr txBox="1">
            <a:spLocks noGrp="1"/>
          </p:cNvSpPr>
          <p:nvPr>
            <p:ph type="body" idx="1"/>
          </p:nvPr>
        </p:nvSpPr>
        <p:spPr>
          <a:xfrm>
            <a:off x="491075" y="1294250"/>
            <a:ext cx="3888600" cy="3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endParaRPr sz="1564" b="1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Vista: LoginActivity.kt</a:t>
            </a:r>
            <a:endParaRPr sz="1564" b="1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>
                <a:latin typeface="Cambria"/>
                <a:ea typeface="Cambria"/>
                <a:cs typeface="Cambria"/>
                <a:sym typeface="Cambria"/>
              </a:rPr>
              <a:t>Solicita credenciales al usuario.</a:t>
            </a:r>
            <a:endParaRPr sz="1564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>
                <a:latin typeface="Cambria"/>
                <a:ea typeface="Cambria"/>
                <a:cs typeface="Cambria"/>
                <a:sym typeface="Cambria"/>
              </a:rPr>
              <a:t>Valida y dirige a ConversionActivity.</a:t>
            </a:r>
            <a:endParaRPr sz="1564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endParaRPr sz="1564" b="1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endParaRPr sz="1564" b="1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656"/>
              <a:buNone/>
            </a:pPr>
            <a:endParaRPr sz="1564"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58" name="Google Shape;458;g2d624313899_0_193"/>
          <p:cNvSpPr txBox="1">
            <a:spLocks noGrp="1"/>
          </p:cNvSpPr>
          <p:nvPr>
            <p:ph type="body" idx="1"/>
          </p:nvPr>
        </p:nvSpPr>
        <p:spPr>
          <a:xfrm>
            <a:off x="4698075" y="1376600"/>
            <a:ext cx="3888600" cy="3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endParaRPr sz="1564" b="1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 b="1">
                <a:latin typeface="Cambria"/>
                <a:ea typeface="Cambria"/>
                <a:cs typeface="Cambria"/>
                <a:sym typeface="Cambria"/>
              </a:rPr>
              <a:t>Vista: ConversionActivity.kt</a:t>
            </a:r>
            <a:endParaRPr sz="1564" b="1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>
                <a:latin typeface="Cambria"/>
                <a:ea typeface="Cambria"/>
                <a:cs typeface="Cambria"/>
                <a:sym typeface="Cambria"/>
              </a:rPr>
              <a:t>Recibe valores para la conversión.</a:t>
            </a:r>
            <a:endParaRPr sz="1564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>
                <a:latin typeface="Cambria"/>
                <a:ea typeface="Cambria"/>
                <a:cs typeface="Cambria"/>
                <a:sym typeface="Cambria"/>
              </a:rPr>
              <a:t>Llama a ConversionController para la API.</a:t>
            </a:r>
            <a:endParaRPr sz="1564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r>
              <a:rPr lang="es-ES" sz="1564">
                <a:latin typeface="Cambria"/>
                <a:ea typeface="Cambria"/>
                <a:cs typeface="Cambria"/>
                <a:sym typeface="Cambria"/>
              </a:rPr>
              <a:t>Muestra el resultado en pantalla.</a:t>
            </a:r>
            <a:endParaRPr sz="1564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endParaRPr sz="1564" b="1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56"/>
              <a:buNone/>
            </a:pPr>
            <a:endParaRPr sz="1564" b="1">
              <a:latin typeface="Cambria"/>
              <a:ea typeface="Cambria"/>
              <a:cs typeface="Cambria"/>
              <a:sym typeface="Cambri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656"/>
              <a:buNone/>
            </a:pPr>
            <a:endParaRPr sz="1564" b="1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ACEC0DE-2BEA-40A8-801D-5178C61461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071" y="3523400"/>
            <a:ext cx="3704493" cy="229025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8ABC178B-C3A3-4016-BC6C-F3909BE4E7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6586" y="3395466"/>
            <a:ext cx="3346888" cy="312125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2d6d00c5bd2_3_16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DESARROLLO</a:t>
            </a:r>
            <a:endParaRPr/>
          </a:p>
        </p:txBody>
      </p:sp>
      <p:sp>
        <p:nvSpPr>
          <p:cNvPr id="494" name="Google Shape;494;g2d6d00c5bd2_3_16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g2d6d00c5bd2_3_16"/>
          <p:cNvSpPr txBox="1">
            <a:spLocks noGrp="1"/>
          </p:cNvSpPr>
          <p:nvPr>
            <p:ph type="body" idx="1"/>
          </p:nvPr>
        </p:nvSpPr>
        <p:spPr>
          <a:xfrm>
            <a:off x="581200" y="1984125"/>
            <a:ext cx="8589300" cy="11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457200" lvl="0" indent="-317981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91998"/>
              <a:buFont typeface="Cambria"/>
              <a:buChar char="●"/>
            </a:pPr>
            <a:r>
              <a:rPr lang="es-ES" dirty="0">
                <a:latin typeface="Cambria"/>
                <a:ea typeface="Cambria"/>
                <a:cs typeface="Cambria"/>
                <a:sym typeface="Cambria"/>
              </a:rPr>
              <a:t>Para ejecutar el cliente móvil, se puede hacer desde un dispositivo físico o el mismo emulador de </a:t>
            </a:r>
            <a:r>
              <a:rPr lang="es-ES" dirty="0" err="1">
                <a:latin typeface="Cambria"/>
                <a:ea typeface="Cambria"/>
                <a:cs typeface="Cambria"/>
                <a:sym typeface="Cambria"/>
              </a:rPr>
              <a:t>android</a:t>
            </a:r>
            <a:r>
              <a:rPr lang="es-ES" dirty="0"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s-ES" dirty="0" err="1">
                <a:latin typeface="Cambria"/>
                <a:ea typeface="Cambria"/>
                <a:cs typeface="Cambria"/>
                <a:sym typeface="Cambria"/>
              </a:rPr>
              <a:t>studio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914400" lvl="1" indent="-317982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103500"/>
              <a:buFont typeface="Cambria"/>
              <a:buChar char="○"/>
            </a:pPr>
            <a:r>
              <a:rPr lang="es-ES" dirty="0">
                <a:latin typeface="Cambria"/>
                <a:ea typeface="Cambria"/>
                <a:cs typeface="Cambria"/>
                <a:sym typeface="Cambria"/>
              </a:rPr>
              <a:t>Configura un dispositivo físico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914400" lvl="1" indent="-317982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ct val="103500"/>
              <a:buFont typeface="Cambria"/>
              <a:buChar char="○"/>
            </a:pPr>
            <a:r>
              <a:rPr lang="es-ES" dirty="0">
                <a:latin typeface="Cambria"/>
                <a:ea typeface="Cambria"/>
                <a:cs typeface="Cambria"/>
                <a:sym typeface="Cambria"/>
              </a:rPr>
              <a:t>Configura un emulador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7" name="image51.png">
            <a:extLst>
              <a:ext uri="{FF2B5EF4-FFF2-40B4-BE49-F238E27FC236}">
                <a16:creationId xmlns:a16="http://schemas.microsoft.com/office/drawing/2014/main" id="{47E336AD-7C62-44ED-B746-514B0A1352F5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2107289" y="3132225"/>
            <a:ext cx="1720640" cy="3469750"/>
          </a:xfrm>
          <a:prstGeom prst="rect">
            <a:avLst/>
          </a:prstGeom>
          <a:ln/>
        </p:spPr>
      </p:pic>
      <p:pic>
        <p:nvPicPr>
          <p:cNvPr id="8" name="image32.png">
            <a:extLst>
              <a:ext uri="{FF2B5EF4-FFF2-40B4-BE49-F238E27FC236}">
                <a16:creationId xmlns:a16="http://schemas.microsoft.com/office/drawing/2014/main" id="{E9C825FF-D8CA-4B60-BE6C-63B801686828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4375360" y="3132224"/>
            <a:ext cx="1577205" cy="3469750"/>
          </a:xfrm>
          <a:prstGeom prst="rect">
            <a:avLst/>
          </a:prstGeom>
          <a:ln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41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5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CONCLUSIONES</a:t>
            </a:r>
            <a:endParaRPr/>
          </a:p>
        </p:txBody>
      </p:sp>
      <p:sp>
        <p:nvSpPr>
          <p:cNvPr id="503" name="Google Shape;503;p41"/>
          <p:cNvSpPr txBox="1">
            <a:spLocks noGrp="1"/>
          </p:cNvSpPr>
          <p:nvPr>
            <p:ph type="body" idx="1"/>
          </p:nvPr>
        </p:nvSpPr>
        <p:spPr>
          <a:xfrm>
            <a:off x="581192" y="2180496"/>
            <a:ext cx="8589300" cy="36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0" marR="0" lvl="0" indent="0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656"/>
              <a:buNone/>
            </a:pPr>
            <a:r>
              <a:rPr lang="es-MX" sz="1900" dirty="0">
                <a:latin typeface="Cambria"/>
                <a:ea typeface="Cambria"/>
                <a:cs typeface="Cambria"/>
                <a:sym typeface="Cambria"/>
              </a:rPr>
              <a:t>El proyecto permitió la integración de múltiples tecnologías bajo una arquitectura </a:t>
            </a:r>
            <a:r>
              <a:rPr lang="es-MX" sz="1900" dirty="0" err="1">
                <a:latin typeface="Cambria"/>
                <a:ea typeface="Cambria"/>
                <a:cs typeface="Cambria"/>
                <a:sym typeface="Cambria"/>
              </a:rPr>
              <a:t>RESTful</a:t>
            </a:r>
            <a:r>
              <a:rPr lang="es-MX" sz="1900" dirty="0">
                <a:latin typeface="Cambria"/>
                <a:ea typeface="Cambria"/>
                <a:cs typeface="Cambria"/>
                <a:sym typeface="Cambria"/>
              </a:rPr>
              <a:t> con </a:t>
            </a:r>
            <a:r>
              <a:rPr lang="es-MX" sz="1900" dirty="0" err="1">
                <a:latin typeface="Cambria"/>
                <a:ea typeface="Cambria"/>
                <a:cs typeface="Cambria"/>
                <a:sym typeface="Cambria"/>
              </a:rPr>
              <a:t>Jakarta</a:t>
            </a:r>
            <a:r>
              <a:rPr lang="es-MX" sz="1900" dirty="0">
                <a:latin typeface="Cambria"/>
                <a:ea typeface="Cambria"/>
                <a:cs typeface="Cambria"/>
                <a:sym typeface="Cambria"/>
              </a:rPr>
              <a:t> EE y el servidor Payara, logrando un flujo de trabajo consistente entre entornos como NetBeans y Android Studio. Al implementar módulos de seguridad y conversiones, se evidenció la importancia de separar la lógica de negocio mediante </a:t>
            </a:r>
            <a:r>
              <a:rPr lang="es-MX" sz="1900" dirty="0" err="1">
                <a:latin typeface="Cambria"/>
                <a:ea typeface="Cambria"/>
                <a:cs typeface="Cambria"/>
                <a:sym typeface="Cambria"/>
              </a:rPr>
              <a:t>Endpoints</a:t>
            </a:r>
            <a:r>
              <a:rPr lang="es-MX" sz="1900" dirty="0">
                <a:latin typeface="Cambria"/>
                <a:ea typeface="Cambria"/>
                <a:cs typeface="Cambria"/>
                <a:sym typeface="Cambria"/>
              </a:rPr>
              <a:t> REST y el uso de JSON, resultando en una solución escalable y desacoplada a pesar de no usar bases de datos. La construcción de clientes en consola, escritorio, web y móvil validó la interoperabilidad del sistema, gestionando exitosamente peticiones HTTP y herramientas como </a:t>
            </a:r>
            <a:r>
              <a:rPr lang="es-MX" sz="1900" dirty="0" err="1">
                <a:latin typeface="Cambria"/>
                <a:ea typeface="Cambria"/>
                <a:cs typeface="Cambria"/>
                <a:sym typeface="Cambria"/>
              </a:rPr>
              <a:t>Retrofit</a:t>
            </a:r>
            <a:r>
              <a:rPr lang="es-MX" sz="1900" dirty="0">
                <a:latin typeface="Cambria"/>
                <a:ea typeface="Cambria"/>
                <a:cs typeface="Cambria"/>
                <a:sym typeface="Cambria"/>
              </a:rPr>
              <a:t> para el consumo de servicios. Finalmente, el desarrollo consolidó el ciclo completo de creación de </a:t>
            </a:r>
            <a:r>
              <a:rPr lang="es-MX" sz="1900" dirty="0" err="1">
                <a:latin typeface="Cambria"/>
                <a:ea typeface="Cambria"/>
                <a:cs typeface="Cambria"/>
                <a:sym typeface="Cambria"/>
              </a:rPr>
              <a:t>APIs</a:t>
            </a:r>
            <a:r>
              <a:rPr lang="es-MX" sz="1900" dirty="0">
                <a:latin typeface="Cambria"/>
                <a:ea typeface="Cambria"/>
                <a:cs typeface="Cambria"/>
                <a:sym typeface="Cambria"/>
              </a:rPr>
              <a:t> modernas, abarcando desde el diseño de rutas y anotaciones hasta la validación funcional en múltiples plataformas. </a:t>
            </a:r>
            <a:endParaRPr sz="1900" dirty="0"/>
          </a:p>
        </p:txBody>
      </p:sp>
      <p:sp>
        <p:nvSpPr>
          <p:cNvPr id="504" name="Google Shape;504;p41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42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s-ES"/>
              <a:t>RECOMENDACIONES</a:t>
            </a:r>
            <a:endParaRPr/>
          </a:p>
        </p:txBody>
      </p:sp>
      <p:sp>
        <p:nvSpPr>
          <p:cNvPr id="510" name="Google Shape;510;p42"/>
          <p:cNvSpPr txBox="1">
            <a:spLocks noGrp="1"/>
          </p:cNvSpPr>
          <p:nvPr>
            <p:ph type="body" idx="1"/>
          </p:nvPr>
        </p:nvSpPr>
        <p:spPr>
          <a:xfrm>
            <a:off x="581200" y="2025325"/>
            <a:ext cx="8500800" cy="42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4010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56"/>
              <a:buChar char="◼"/>
            </a:pPr>
            <a:r>
              <a:rPr lang="es-MX" sz="1900" dirty="0"/>
              <a:t>Mantener la estructura modular y el patrón MVC para escalar nuevas categorías de conversión sin afectar la arquitectura de la API REST.  </a:t>
            </a:r>
          </a:p>
          <a:p>
            <a:pPr marL="457200" lvl="0" indent="-34010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56"/>
              <a:buChar char="◼"/>
            </a:pPr>
            <a:r>
              <a:rPr lang="es-MX" sz="1900" dirty="0"/>
              <a:t>Estandarizar el manejo de excepciones mediante códigos de estado HTTP (400, 401) y mensajes JSON detallados para facilitar el diagnóstico de errores.  </a:t>
            </a:r>
          </a:p>
          <a:p>
            <a:pPr marL="457200" lvl="0" indent="-34010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56"/>
              <a:buChar char="◼"/>
            </a:pPr>
            <a:r>
              <a:rPr lang="es-MX" sz="1900" dirty="0"/>
              <a:t>Aplicar validaciones estrictas en el tiempo de vida de las sesiones y bloquear peticiones con valores numéricos inválidos, como medidas de masa </a:t>
            </a:r>
            <a:r>
              <a:rPr lang="es-MX" sz="1900"/>
              <a:t>negativas.</a:t>
            </a:r>
          </a:p>
          <a:p>
            <a:pPr marL="457200" lvl="0" indent="-34010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56"/>
              <a:buChar char="◼"/>
            </a:pPr>
            <a:r>
              <a:rPr lang="es-MX" sz="1900"/>
              <a:t>Implementar </a:t>
            </a:r>
            <a:r>
              <a:rPr lang="es-MX" sz="1900" dirty="0"/>
              <a:t>mecanismos de caché en memoria para optimizar el acceso a los catálogos de unidades ante un alto volumen de peticiones.  </a:t>
            </a:r>
          </a:p>
          <a:p>
            <a:pPr marL="457200" lvl="0" indent="-34010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56"/>
              <a:buChar char="◼"/>
            </a:pPr>
            <a:r>
              <a:rPr lang="es-MX" sz="1900" dirty="0"/>
              <a:t>Estandarizar la interfaz visual y los controles de validación en todos los clientes, asegurando una experiencia de usuario consistente y sin bloqueos de pantalla.  </a:t>
            </a:r>
          </a:p>
          <a:p>
            <a:pPr marL="457200" lvl="0" indent="-340106" algn="just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756"/>
              <a:buChar char="◼"/>
            </a:pPr>
            <a:r>
              <a:rPr lang="es-MX" sz="1900" dirty="0"/>
              <a:t>Documentar la API utilizando </a:t>
            </a:r>
            <a:r>
              <a:rPr lang="es-MX" sz="1900" dirty="0" err="1"/>
              <a:t>OpenAPI</a:t>
            </a:r>
            <a:r>
              <a:rPr lang="es-MX" sz="1900" dirty="0"/>
              <a:t> (</a:t>
            </a:r>
            <a:r>
              <a:rPr lang="es-MX" sz="1900" dirty="0" err="1"/>
              <a:t>Swagger</a:t>
            </a:r>
            <a:r>
              <a:rPr lang="es-MX" sz="1900" dirty="0"/>
              <a:t>) para generar documentación interactiva que facilite el consumo del servicio desde otros lenguajes.</a:t>
            </a:r>
          </a:p>
        </p:txBody>
      </p:sp>
      <p:sp>
        <p:nvSpPr>
          <p:cNvPr id="511" name="Google Shape;511;p42"/>
          <p:cNvSpPr/>
          <p:nvPr/>
        </p:nvSpPr>
        <p:spPr>
          <a:xfrm>
            <a:off x="9383697" y="0"/>
            <a:ext cx="2808300" cy="6858000"/>
          </a:xfrm>
          <a:prstGeom prst="rect">
            <a:avLst/>
          </a:prstGeom>
          <a:solidFill>
            <a:schemeClr val="accent1"/>
          </a:solidFill>
          <a:ln w="22225" cap="rnd" cmpd="sng">
            <a:solidFill>
              <a:srgbClr val="1224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DESARROLLO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OBJETIVO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lt1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SERVIDOR </a:t>
            </a:r>
            <a:r>
              <a:rPr lang="es-ES" sz="1200" b="1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SOAP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CONSOLA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ESCRITORIO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WEB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3200" marR="0" lvl="1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CREACIÓN DEL PROYECTO – CLIENTE MOVIL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4590B8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CONCLUSIONES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06000" marR="0" lvl="0" indent="-3060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FF00"/>
              </a:buClr>
              <a:buSzPts val="1104"/>
              <a:buFont typeface="Noto Sans Symbols"/>
              <a:buChar char="◼"/>
            </a:pPr>
            <a:r>
              <a:rPr lang="es-ES" sz="1200" b="1" i="0" u="none" strike="noStrike" cap="none">
                <a:solidFill>
                  <a:srgbClr val="FFFF00"/>
                </a:solidFill>
                <a:latin typeface="Gill Sans"/>
                <a:ea typeface="Gill Sans"/>
                <a:cs typeface="Gill Sans"/>
                <a:sym typeface="Gill Sans"/>
              </a:rPr>
              <a:t>RECOMENDACIONES</a:t>
            </a:r>
            <a:endParaRPr sz="1400" b="0" i="0" u="none" strike="noStrike" cap="non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videndo">
  <a:themeElements>
    <a:clrScheme name="Dividend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2089</Words>
  <Application>Microsoft Office PowerPoint</Application>
  <PresentationFormat>Panorámica</PresentationFormat>
  <Paragraphs>407</Paragraphs>
  <Slides>30</Slides>
  <Notes>30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30</vt:i4>
      </vt:variant>
    </vt:vector>
  </HeadingPairs>
  <TitlesOfParts>
    <vt:vector size="36" baseType="lpstr">
      <vt:lpstr>Calibri</vt:lpstr>
      <vt:lpstr>Cambria</vt:lpstr>
      <vt:lpstr>Gill Sans</vt:lpstr>
      <vt:lpstr>Arial</vt:lpstr>
      <vt:lpstr>Noto Sans Symbols</vt:lpstr>
      <vt:lpstr>Dividendo</vt:lpstr>
      <vt:lpstr>MANUAL CONVUNI RESTFULL JAVA</vt:lpstr>
      <vt:lpstr>Presentación de PowerPoint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CONCLUSIONES</vt:lpstr>
      <vt:lpstr>RECOMENDACIONES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MANUAL CONVUNI SOAP JAVA</dc:title>
  <dc:creator>Michael Villarruel</dc:creator>
  <cp:lastModifiedBy>Edison Verdesoto</cp:lastModifiedBy>
  <cp:revision>7</cp:revision>
  <dcterms:created xsi:type="dcterms:W3CDTF">2020-08-13T07:15:02Z</dcterms:created>
  <dcterms:modified xsi:type="dcterms:W3CDTF">2026-05-12T04:15:53Z</dcterms:modified>
</cp:coreProperties>
</file>